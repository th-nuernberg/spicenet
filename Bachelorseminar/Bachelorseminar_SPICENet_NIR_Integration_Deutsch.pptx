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sldIdLst>
    <p:sldId id="256" r:id="rId5"/>
    <p:sldId id="258" r:id="rId6"/>
    <p:sldId id="259" r:id="rId7"/>
    <p:sldId id="260" r:id="rId8"/>
    <p:sldId id="275" r:id="rId9"/>
    <p:sldId id="276" r:id="rId10"/>
    <p:sldId id="277" r:id="rId11"/>
    <p:sldId id="273" r:id="rId12"/>
    <p:sldId id="263" r:id="rId13"/>
    <p:sldId id="274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6" r:id="rId22"/>
    <p:sldId id="285" r:id="rId23"/>
    <p:sldId id="287" r:id="rId24"/>
    <p:sldId id="288" r:id="rId25"/>
    <p:sldId id="289" r:id="rId26"/>
    <p:sldId id="290" r:id="rId27"/>
    <p:sldId id="291" r:id="rId28"/>
    <p:sldId id="269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23D11A-1DF6-EE6B-4EF2-11716DE30A45}" name="Romina Dertscheny-Schwarz" initials="RDS" userId="S::dertscheny-schwarz@eworks-gmbh.de::bf7a6196-0876-49c8-aa05-96405fe969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40C4A-F010-403F-96D1-AE943BBAB253}" v="391" dt="2025-01-15T14:47:34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720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BFF51-2098-4D5A-94F9-58B977AD4BE2}" type="datetimeFigureOut">
              <a:rPr lang="de-DE" smtClean="0"/>
              <a:t>05.02.2025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664C4-E931-43C8-BC1C-83625EAB2A7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67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64C4-E931-43C8-BC1C-83625EAB2A7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12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73DD71F-F627-E252-D236-A435D6E7BD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61036" cy="5303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2539683"/>
            <a:ext cx="8456400" cy="2387600"/>
          </a:xfrm>
        </p:spPr>
        <p:txBody>
          <a:bodyPr anchor="b"/>
          <a:lstStyle>
            <a:lvl1pPr algn="l">
              <a:lnSpc>
                <a:spcPts val="8800"/>
              </a:lnSpc>
              <a:defRPr sz="8600"/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omega">
            <a:extLst>
              <a:ext uri="{FF2B5EF4-FFF2-40B4-BE49-F238E27FC236}">
                <a16:creationId xmlns:a16="http://schemas.microsoft.com/office/drawing/2014/main" id="{64602DA8-F54E-2EFA-E5E8-6EF92CA49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2018" t="5459" r="26728" b="7828"/>
          <a:stretch/>
        </p:blipFill>
        <p:spPr>
          <a:xfrm>
            <a:off x="4831492" y="0"/>
            <a:ext cx="7360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66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3A6AF66-564C-B576-EB60-C637F75D6B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" t="9551" r="6700" b="12301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7EBB088-51C6-A0C7-581F-AADFB085DD75}"/>
              </a:ext>
            </a:extLst>
          </p:cNvPr>
          <p:cNvSpPr/>
          <p:nvPr userDrawn="1"/>
        </p:nvSpPr>
        <p:spPr>
          <a:xfrm>
            <a:off x="0" y="0"/>
            <a:ext cx="9509760" cy="6535153"/>
          </a:xfrm>
          <a:prstGeom prst="rect">
            <a:avLst/>
          </a:prstGeom>
          <a:gradFill>
            <a:gsLst>
              <a:gs pos="9000">
                <a:schemeClr val="bg1"/>
              </a:gs>
              <a:gs pos="49000">
                <a:schemeClr val="bg1">
                  <a:alpha val="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2539683"/>
            <a:ext cx="8456400" cy="2387600"/>
          </a:xfrm>
        </p:spPr>
        <p:txBody>
          <a:bodyPr anchor="b"/>
          <a:lstStyle>
            <a:lvl1pPr algn="l">
              <a:lnSpc>
                <a:spcPts val="8800"/>
              </a:lnSpc>
              <a:defRPr sz="8600"/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73DD71F-F627-E252-D236-A435D6E7B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61036" cy="5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1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rot mit Bildplatzhal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15C5735-14A2-5472-0518-FFF8D2B681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3200" cy="685800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3756211"/>
            <a:ext cx="8456400" cy="1171071"/>
          </a:xfrm>
        </p:spPr>
        <p:txBody>
          <a:bodyPr anchor="b"/>
          <a:lstStyle>
            <a:lvl1pPr algn="l">
              <a:lnSpc>
                <a:spcPts val="88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Grafik 3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CF58DF2-554F-F3A5-4A77-5B6C5E3A5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54940" cy="52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75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3pPr>
              <a:defRPr/>
            </a:lvl3pPr>
            <a:lvl4pPr>
              <a:defRPr/>
            </a:lvl4pPr>
            <a:lvl5pPr>
              <a:defRPr/>
            </a:lvl5pPr>
            <a:lvl6pPr marL="900000">
              <a:lnSpc>
                <a:spcPts val="1920"/>
              </a:lnSpc>
              <a:defRPr sz="1400"/>
            </a:lvl6pPr>
            <a:lvl7pPr marL="1116000">
              <a:lnSpc>
                <a:spcPts val="1920"/>
              </a:lnSpc>
              <a:defRPr sz="1400"/>
            </a:lvl7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64000"/>
            <a:ext cx="11473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857D49-53B5-0925-D270-F58A02A557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7E45D-EA94-2A05-1E5F-FB39AFC93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D61F9-A129-0FDE-2F50-65CB13897B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12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797050"/>
            <a:ext cx="11471638" cy="44391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B48314-5880-B59F-70F1-0E27E9BF31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B0A72-FBC9-69D3-72A5-A1A61E01E9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696324-603F-BB54-E949-1487348E0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0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groß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6C5E33-7F21-3936-C96B-D7B71F870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803880"/>
            <a:ext cx="11473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11B9E05-1F66-40E4-8A0B-8DDA6922BA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280160"/>
            <a:ext cx="11471638" cy="49560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0A4FBD-9399-2025-DF41-844B204F1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86E67E-6149-2180-D86F-DCFF7F815F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953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2556001"/>
            <a:ext cx="5567834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18DFBE-D824-4B92-7420-A11062A353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6C5E33-7F21-3936-C96B-D7B71F870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64000"/>
            <a:ext cx="5569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5771E45-57C3-2620-B432-B601CECEE5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4000" y="2556001"/>
            <a:ext cx="5569200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BABC1A0F-91CF-DFD6-1F8A-E6C2A5DF22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0" y="1764000"/>
            <a:ext cx="5569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661DFCB-8103-CC1D-E336-E8B3816EF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6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ClipAr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057568"/>
            <a:ext cx="4644000" cy="529343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 dirty="0"/>
              <a:t>Titel bearbeiten (zweizeilig)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2556001"/>
            <a:ext cx="4644000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6FEB295-B9E9-46BA-EE53-47FF12B408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09200" y="332209"/>
            <a:ext cx="6624000" cy="590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45CD1F-EA7D-98A3-6B43-67BDEAACC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42CFC6-A2F3-0CEB-58F0-7304B6A302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62378C-8DD8-C152-F6CC-ED00593142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135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1711F5-F1B0-35F1-0DA8-434EB3E57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23C215-FBCC-4133-9718-CDB5059618F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17321A5-3E52-01A4-A7FF-6083C229B5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67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Inhalt, ohne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6325"/>
            <a:ext cx="11471638" cy="51598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B48314-5880-B59F-70F1-0E27E9BF31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B0A72-FBC9-69D3-72A5-A1A61E01E9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696324-603F-BB54-E949-1487348E0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01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dunkel (mit Untertitel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C514-37F6-908E-490C-63EB35F46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4B733B-1F6B-8A69-7F81-CFC2D40BAF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36CA629-3B13-A412-E161-464798FF0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48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rot (mit Untertite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C514-37F6-908E-490C-63EB35F46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4B733B-1F6B-8A69-7F81-CFC2D40BAF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36CA629-3B13-A412-E161-464798FF0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531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hell (mit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/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0E719CB-ABD2-604E-E2C1-FE33369B23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D4D102-E57D-60D1-A9BA-C5ADD9B548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1F6E8-65B4-E85A-A4E6-9DACEC5E09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43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ro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6869"/>
            <a:ext cx="10515600" cy="1500187"/>
          </a:xfrm>
        </p:spPr>
        <p:txBody>
          <a:bodyPr anchor="ctr"/>
          <a:lstStyle>
            <a:lvl1pPr algn="ctr">
              <a:lnSpc>
                <a:spcPts val="5500"/>
              </a:lnSpc>
              <a:defRPr sz="5400"/>
            </a:lvl1pPr>
          </a:lstStyle>
          <a:p>
            <a:r>
              <a:rPr lang="de-DE" dirty="0"/>
              <a:t>Titel des Kapitels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5CA9B2D-E479-95B4-D25C-CA3ABB0A27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6A4EB1-9AA0-00D1-1FED-C3451A4938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1890F5-472F-80A0-C435-498C3E6B5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712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dunkelblau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6869"/>
            <a:ext cx="10515600" cy="1500187"/>
          </a:xfrm>
        </p:spPr>
        <p:txBody>
          <a:bodyPr anchor="ctr"/>
          <a:lstStyle>
            <a:lvl1pPr algn="ctr">
              <a:lnSpc>
                <a:spcPts val="55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des Kapitels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1BC914-CDBC-77D0-6C50-7F61587F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535B0C-77A0-A23C-9818-775BB07257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2E3220-4ED8-2AE5-69C0-549564114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B3A3DD-45D3-BB9D-57A8-4E9C7305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11471638" cy="52934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DF2570-7093-AD0C-58B6-51EEC413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2556001"/>
            <a:ext cx="11471638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5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686EB5-9EEF-674F-CC1D-C34F9EACD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379481"/>
            <a:ext cx="9000000" cy="1364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900">
                <a:solidFill>
                  <a:schemeClr val="accent1"/>
                </a:solidFill>
                <a:latin typeface="Public Sans Medium" pitchFamily="2" charset="0"/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BEA15-929E-1D16-8C64-5FDA6815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3396" y="6379481"/>
            <a:ext cx="688241" cy="1404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900">
                <a:solidFill>
                  <a:schemeClr val="accent1"/>
                </a:solidFill>
                <a:latin typeface="Public Sans Medium" pitchFamily="2" charset="0"/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18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50" r:id="rId4"/>
    <p:sldLayoutId id="2147483659" r:id="rId5"/>
    <p:sldLayoutId id="2147483658" r:id="rId6"/>
    <p:sldLayoutId id="2147483660" r:id="rId7"/>
    <p:sldLayoutId id="2147483662" r:id="rId8"/>
    <p:sldLayoutId id="2147483672" r:id="rId9"/>
    <p:sldLayoutId id="2147483673" r:id="rId10"/>
    <p:sldLayoutId id="2147483664" r:id="rId11"/>
    <p:sldLayoutId id="2147483671" r:id="rId12"/>
    <p:sldLayoutId id="2147483651" r:id="rId13"/>
    <p:sldLayoutId id="2147483665" r:id="rId14"/>
    <p:sldLayoutId id="2147483666" r:id="rId15"/>
  </p:sldLayoutIdLst>
  <p:hf hdr="0" dt="0"/>
  <p:txStyles>
    <p:titleStyle>
      <a:lvl1pPr algn="l" defTabSz="914400" rtl="0" eaLnBrk="1" latinLnBrk="0" hangingPunct="1">
        <a:lnSpc>
          <a:spcPts val="4300"/>
        </a:lnSpc>
        <a:spcBef>
          <a:spcPct val="0"/>
        </a:spcBef>
        <a:buNone/>
        <a:defRPr sz="4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04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8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66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26" userDrawn="1">
          <p15:clr>
            <a:srgbClr val="F26B43"/>
          </p15:clr>
        </p15:guide>
        <p15:guide id="4" orient="horz" pos="4105" userDrawn="1">
          <p15:clr>
            <a:srgbClr val="F26B43"/>
          </p15:clr>
        </p15:guide>
        <p15:guide id="5" pos="7453" userDrawn="1">
          <p15:clr>
            <a:srgbClr val="F26B43"/>
          </p15:clr>
        </p15:guide>
        <p15:guide id="6" pos="225" userDrawn="1">
          <p15:clr>
            <a:srgbClr val="F26B43"/>
          </p15:clr>
        </p15:guide>
        <p15:guide id="7" orient="horz" pos="4017" userDrawn="1">
          <p15:clr>
            <a:srgbClr val="F26B43"/>
          </p15:clr>
        </p15:guide>
        <p15:guide id="8" orient="horz" pos="3929" userDrawn="1">
          <p15:clr>
            <a:srgbClr val="F26B43"/>
          </p15:clr>
        </p15:guide>
        <p15:guide id="9" orient="horz" pos="6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F46B0-7EE0-314A-66B8-AB84BD64A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188" y="2539683"/>
            <a:ext cx="5995486" cy="1085833"/>
          </a:xfrm>
        </p:spPr>
        <p:txBody>
          <a:bodyPr/>
          <a:lstStyle/>
          <a:p>
            <a:r>
              <a:rPr lang="de-DE" sz="6600" dirty="0"/>
              <a:t>Bachelorseminar</a:t>
            </a:r>
            <a:endParaRPr lang="de-DE" sz="72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BF735F8-FCA8-C3D1-0C18-CFCED134C53B}"/>
              </a:ext>
            </a:extLst>
          </p:cNvPr>
          <p:cNvSpPr txBox="1">
            <a:spLocks/>
          </p:cNvSpPr>
          <p:nvPr/>
        </p:nvSpPr>
        <p:spPr>
          <a:xfrm>
            <a:off x="357188" y="4961021"/>
            <a:ext cx="5995486" cy="72590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ts val="8800"/>
              </a:lnSpc>
              <a:spcBef>
                <a:spcPct val="0"/>
              </a:spcBef>
              <a:buNone/>
              <a:defRPr sz="8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2400" b="1" dirty="0"/>
              <a:t>Thema:</a:t>
            </a:r>
            <a:r>
              <a:rPr lang="de-DE" sz="2400" dirty="0"/>
              <a:t> </a:t>
            </a:r>
            <a:r>
              <a:rPr lang="de-DE" sz="2400" dirty="0" err="1"/>
              <a:t>SPICENet</a:t>
            </a:r>
            <a:r>
              <a:rPr lang="de-DE" sz="2400" dirty="0"/>
              <a:t> Integration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Neuromorphic</a:t>
            </a:r>
            <a:r>
              <a:rPr lang="de-DE" sz="2400" dirty="0"/>
              <a:t> Intermediate </a:t>
            </a:r>
            <a:r>
              <a:rPr lang="de-DE" sz="2400" dirty="0" err="1"/>
              <a:t>Representation</a:t>
            </a:r>
            <a:r>
              <a:rPr lang="de-DE" sz="2400" dirty="0"/>
              <a:t> Framework</a:t>
            </a:r>
          </a:p>
          <a:p>
            <a:pPr>
              <a:lnSpc>
                <a:spcPct val="100000"/>
              </a:lnSpc>
            </a:pPr>
            <a:endParaRPr lang="de-DE" sz="2400" dirty="0"/>
          </a:p>
          <a:p>
            <a:pPr>
              <a:lnSpc>
                <a:spcPct val="100000"/>
              </a:lnSpc>
            </a:pPr>
            <a:r>
              <a:rPr lang="de-DE" sz="2400" b="1" dirty="0"/>
              <a:t>Vortragender: Lutz Mitländer</a:t>
            </a:r>
          </a:p>
          <a:p>
            <a:pPr>
              <a:lnSpc>
                <a:spcPct val="100000"/>
              </a:lnSpc>
            </a:pPr>
            <a:r>
              <a:rPr lang="de-DE" sz="2400" b="1" dirty="0"/>
              <a:t>Betreuer: Prof. Dr. Cristian </a:t>
            </a:r>
            <a:r>
              <a:rPr lang="de-DE" sz="2400" b="1" dirty="0" err="1"/>
              <a:t>Axenie</a:t>
            </a:r>
            <a:endParaRPr lang="de-DE" sz="2800" b="1" dirty="0"/>
          </a:p>
        </p:txBody>
      </p:sp>
    </p:spTree>
    <p:extLst>
      <p:ext uri="{BB962C8B-B14F-4D97-AF65-F5344CB8AC3E}">
        <p14:creationId xmlns:p14="http://schemas.microsoft.com/office/powerpoint/2010/main" val="313772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EE8C913-9780-2E15-C41D-688314DDA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188" y="977857"/>
            <a:ext cx="8456400" cy="1171071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pic>
        <p:nvPicPr>
          <p:cNvPr id="8" name="Grafik 7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CF58DF2-554F-F3A5-4A77-5B6C5E3A5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54940" cy="52425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482F206-D7F1-173D-F118-964F6F928DB0}"/>
              </a:ext>
            </a:extLst>
          </p:cNvPr>
          <p:cNvSpPr txBox="1"/>
          <p:nvPr/>
        </p:nvSpPr>
        <p:spPr>
          <a:xfrm>
            <a:off x="357188" y="2248930"/>
            <a:ext cx="5057988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Einführung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Zielstellung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Theorie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SPICENet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Neuromorphic</a:t>
            </a:r>
            <a:r>
              <a:rPr lang="de-DE" dirty="0">
                <a:solidFill>
                  <a:schemeClr val="bg1"/>
                </a:solidFill>
              </a:rPr>
              <a:t> Intermediate </a:t>
            </a:r>
            <a:r>
              <a:rPr lang="de-DE" dirty="0" err="1">
                <a:solidFill>
                  <a:schemeClr val="bg1"/>
                </a:solidFill>
              </a:rPr>
              <a:t>Representation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Spiking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Neural</a:t>
            </a:r>
            <a:r>
              <a:rPr lang="de-DE" dirty="0">
                <a:solidFill>
                  <a:schemeClr val="bg1"/>
                </a:solidFill>
              </a:rPr>
              <a:t>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Methodik &amp; Ergebnisse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Ursprünglicher Plan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SOM SNN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NIR Integrations-Architektur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/>
                </a:solidFill>
              </a:rPr>
              <a:t>Abschluss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Probleme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Zukünftige Schritte</a:t>
            </a:r>
          </a:p>
        </p:txBody>
      </p:sp>
    </p:spTree>
    <p:extLst>
      <p:ext uri="{BB962C8B-B14F-4D97-AF65-F5344CB8AC3E}">
        <p14:creationId xmlns:p14="http://schemas.microsoft.com/office/powerpoint/2010/main" val="373141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B9465-85F4-ACB0-BF7B-B4D5A4D2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Ursprüngliche Zielstellung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E227E7-C9F1-443F-C0D0-88E82DF5B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Verwendbarkeit (Plattformen) von </a:t>
            </a:r>
            <a:r>
              <a:rPr lang="de-DE" dirty="0" err="1"/>
              <a:t>SPICEnet</a:t>
            </a:r>
            <a:r>
              <a:rPr lang="de-DE" dirty="0"/>
              <a:t> erhöhen</a:t>
            </a:r>
          </a:p>
          <a:p>
            <a:pPr>
              <a:lnSpc>
                <a:spcPct val="150000"/>
              </a:lnSpc>
            </a:pPr>
            <a:r>
              <a:rPr lang="de-DE" b="1" dirty="0"/>
              <a:t>Integration in NIR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Einfacher </a:t>
            </a:r>
            <a:r>
              <a:rPr lang="de-DE" dirty="0" err="1"/>
              <a:t>transfer</a:t>
            </a:r>
            <a:r>
              <a:rPr lang="de-DE" dirty="0"/>
              <a:t> des </a:t>
            </a:r>
            <a:r>
              <a:rPr lang="de-DE" dirty="0" err="1"/>
              <a:t>SPICEnets</a:t>
            </a:r>
            <a:r>
              <a:rPr lang="de-DE" dirty="0"/>
              <a:t> zwischen Neuromorphen Plattformen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Evaluation auf Neuromorphen Plattformen</a:t>
            </a:r>
          </a:p>
          <a:p>
            <a:pPr>
              <a:lnSpc>
                <a:spcPct val="150000"/>
              </a:lnSpc>
            </a:pPr>
            <a:r>
              <a:rPr lang="de-DE" dirty="0"/>
              <a:t>Erzeugen eines offenen Code-</a:t>
            </a:r>
            <a:r>
              <a:rPr lang="de-DE" dirty="0" err="1"/>
              <a:t>Repositories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9E5B7A-3A85-4AB8-1DF2-3139236D6A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Integration von </a:t>
            </a:r>
            <a:r>
              <a:rPr lang="de-DE" dirty="0" err="1"/>
              <a:t>SPICEnet</a:t>
            </a:r>
            <a:r>
              <a:rPr lang="de-DE" dirty="0"/>
              <a:t> in NIR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A21E51-6B39-7CF4-0AEB-80D314EDEB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F9A502-4A24-D037-2D86-B00DEFFDF6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71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26702-FD1D-E031-C707-B5BBDFF0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SPICEnet</a:t>
            </a:r>
            <a:r>
              <a:rPr lang="de-DE" dirty="0"/>
              <a:t> – Generell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208E9E-D44A-BDB4-40E3-A240283C7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Findet mathematische Beziehungen zweier Zeitserien: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Durch </a:t>
            </a:r>
            <a:r>
              <a:rPr lang="de-DE" dirty="0" err="1"/>
              <a:t>angepasste</a:t>
            </a:r>
            <a:r>
              <a:rPr lang="de-DE" dirty="0"/>
              <a:t> Self-</a:t>
            </a:r>
            <a:r>
              <a:rPr lang="de-DE" dirty="0" err="1"/>
              <a:t>Organizing</a:t>
            </a:r>
            <a:r>
              <a:rPr lang="de-DE" dirty="0"/>
              <a:t> Maps (</a:t>
            </a:r>
            <a:r>
              <a:rPr lang="de-DE" dirty="0" err="1"/>
              <a:t>competition</a:t>
            </a:r>
            <a:r>
              <a:rPr lang="de-DE" dirty="0"/>
              <a:t>)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Hebbian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anhand der Ergebnisse (</a:t>
            </a:r>
            <a:r>
              <a:rPr lang="de-DE" dirty="0" err="1"/>
              <a:t>cooperation</a:t>
            </a:r>
            <a:r>
              <a:rPr lang="de-DE" dirty="0"/>
              <a:t>)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Und folgende Gewichtsanpassung (</a:t>
            </a:r>
            <a:r>
              <a:rPr lang="de-DE" dirty="0" err="1"/>
              <a:t>adaption</a:t>
            </a:r>
            <a:r>
              <a:rPr lang="de-DE" dirty="0"/>
              <a:t>)</a:t>
            </a:r>
          </a:p>
          <a:p>
            <a:pPr>
              <a:lnSpc>
                <a:spcPct val="150000"/>
              </a:lnSpc>
            </a:pPr>
            <a:r>
              <a:rPr lang="de-DE" dirty="0"/>
              <a:t>Existierendes Python Package</a:t>
            </a:r>
          </a:p>
          <a:p>
            <a:pPr>
              <a:lnSpc>
                <a:spcPct val="150000"/>
              </a:lnSpc>
            </a:pPr>
            <a:r>
              <a:rPr lang="de-DE" dirty="0"/>
              <a:t>Existierende SNN Version</a:t>
            </a:r>
          </a:p>
          <a:p>
            <a:pPr>
              <a:lnSpc>
                <a:spcPct val="150000"/>
              </a:lnSpc>
            </a:pPr>
            <a:r>
              <a:rPr lang="de-DE" dirty="0"/>
              <a:t>Nützlich: Beziehungen finden, Werte Interpolieren, etc.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2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486D8B-95EA-1F19-12B3-B940A25FA8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D5E9EF-8E14-C2D0-E2F7-313A0B0DA1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7" name="Picture 6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51D82C65-81A1-EBCD-AE18-DCAFA614F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003" y="1797050"/>
            <a:ext cx="3946634" cy="1199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8E58BB-01E6-2B4D-4A19-8DAE3D0D1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791" y="3429000"/>
            <a:ext cx="3562846" cy="29293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AE3917-2C52-CD30-EC2F-9F660E55C8DD}"/>
              </a:ext>
            </a:extLst>
          </p:cNvPr>
          <p:cNvSpPr/>
          <p:nvPr/>
        </p:nvSpPr>
        <p:spPr>
          <a:xfrm>
            <a:off x="9737678" y="3534770"/>
            <a:ext cx="1992573" cy="1842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08797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2E0F-737C-841B-1597-11CF1A92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B8E2-33BC-AF78-F1BB-3331857A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Spiking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9BC4B-F602-EE76-3024-45C19084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Grundlage in elektrischen Strömen, nicht 0 und 1</a:t>
            </a:r>
          </a:p>
          <a:p>
            <a:pPr>
              <a:lnSpc>
                <a:spcPct val="150000"/>
              </a:lnSpc>
            </a:pPr>
            <a:r>
              <a:rPr lang="de-DE" dirty="0"/>
              <a:t>Elektrische Signale erhöhen oder mindern eine Ladung (</a:t>
            </a:r>
            <a:r>
              <a:rPr lang="de-DE" b="1" dirty="0"/>
              <a:t>Membrane Potential</a:t>
            </a:r>
            <a:r>
              <a:rPr lang="de-DE" dirty="0"/>
              <a:t>)</a:t>
            </a:r>
          </a:p>
          <a:p>
            <a:pPr>
              <a:lnSpc>
                <a:spcPct val="150000"/>
              </a:lnSpc>
            </a:pPr>
            <a:r>
              <a:rPr lang="de-DE" dirty="0"/>
              <a:t>Bei erreichen von Schwelle =&gt; </a:t>
            </a:r>
            <a:r>
              <a:rPr lang="de-DE" b="1" dirty="0"/>
              <a:t>Spike</a:t>
            </a:r>
            <a:r>
              <a:rPr lang="de-DE" dirty="0"/>
              <a:t>/</a:t>
            </a:r>
            <a:r>
              <a:rPr lang="de-DE" b="1" dirty="0"/>
              <a:t>Action Potential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„</a:t>
            </a:r>
            <a:r>
              <a:rPr lang="de-DE" dirty="0" err="1"/>
              <a:t>Sparse</a:t>
            </a:r>
            <a:r>
              <a:rPr lang="de-DE" dirty="0"/>
              <a:t>“ Events = niedrigerer Energieverbrauch</a:t>
            </a:r>
          </a:p>
          <a:p>
            <a:pPr>
              <a:lnSpc>
                <a:spcPct val="150000"/>
              </a:lnSpc>
            </a:pPr>
            <a:r>
              <a:rPr lang="de-DE" dirty="0"/>
              <a:t>Effiziente Hardware Implementierung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D14FA0-0D22-417C-B4C0-76789EA6A3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Biologisch inspirierte Neuronale Netze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193105-CAF3-A835-4BC4-D997C25030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7D10D-2722-F59A-5809-B3312FC0DC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2D7065-41F8-2EE0-BA4C-EFA21EE5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132" y="727551"/>
            <a:ext cx="2518979" cy="2450898"/>
          </a:xfrm>
          <a:prstGeom prst="rect">
            <a:avLst/>
          </a:prstGeom>
        </p:spPr>
      </p:pic>
      <p:pic>
        <p:nvPicPr>
          <p:cNvPr id="9" name="Picture 8" descr="A diagram of a circuit&#10;&#10;Description automatically generated">
            <a:extLst>
              <a:ext uri="{FF2B5EF4-FFF2-40B4-BE49-F238E27FC236}">
                <a16:creationId xmlns:a16="http://schemas.microsoft.com/office/drawing/2014/main" id="{30D16F04-0BDF-3420-CFB7-004CBB368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327" y="4396105"/>
            <a:ext cx="2948217" cy="16256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1038CC-3D08-752E-BD78-8A4F11901F5A}"/>
              </a:ext>
            </a:extLst>
          </p:cNvPr>
          <p:cNvSpPr/>
          <p:nvPr/>
        </p:nvSpPr>
        <p:spPr>
          <a:xfrm>
            <a:off x="8715178" y="618008"/>
            <a:ext cx="1891862" cy="2560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20951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5C53-6F50-A1E9-057D-944273B6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06B879-BF69-16A3-F032-EE9084EEE3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B7E156-CDB3-715E-0664-22A9DE2CF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SNN – Biological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Comparision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DFEAB1-731E-ABFA-4B24-A5EFAE679A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A9CD91-75A8-3E21-BB5B-F128F3753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92774"/>
            <a:ext cx="6272481" cy="3484713"/>
          </a:xfrm>
          <a:prstGeom prst="rect">
            <a:avLst/>
          </a:prstGeom>
        </p:spPr>
      </p:pic>
      <p:pic>
        <p:nvPicPr>
          <p:cNvPr id="1030" name="Picture 6" descr="The Concept of Artificial Neurons (Perceptrons) in Neural Networks | by  Rukshan Pramoditha | Towards Data Science">
            <a:extLst>
              <a:ext uri="{FF2B5EF4-FFF2-40B4-BE49-F238E27FC236}">
                <a16:creationId xmlns:a16="http://schemas.microsoft.com/office/drawing/2014/main" id="{E1F31716-91C1-E238-6E14-B663E811F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0"/>
          <a:stretch/>
        </p:blipFill>
        <p:spPr bwMode="auto">
          <a:xfrm>
            <a:off x="6339487" y="1951305"/>
            <a:ext cx="4015264" cy="336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80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5F49-EF0D-15EC-94B9-739ACBFB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E51C730-ACC1-9348-FB55-ACAB958802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691F8C-833D-7DCB-85E0-EE288561FE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SNN – LIF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F52877-83D4-D5B6-9434-69209FED2E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FD8DF47-A93B-62CF-6FAB-4C0C915E1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911" y="1386056"/>
            <a:ext cx="8770177" cy="466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44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52160-5625-6DBE-5854-F2D0A763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3F829-6DD4-9E85-2709-641C4337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EDE44D-7E28-D755-DBF6-CA377A02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Austausch Formate für SNNs basierend auf: 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„</a:t>
            </a:r>
            <a:r>
              <a:rPr lang="de-DE" b="1" dirty="0"/>
              <a:t>Primitives</a:t>
            </a:r>
            <a:r>
              <a:rPr lang="de-DE" dirty="0"/>
              <a:t>“</a:t>
            </a:r>
          </a:p>
          <a:p>
            <a:pPr lvl="2">
              <a:lnSpc>
                <a:spcPct val="150000"/>
              </a:lnSpc>
            </a:pPr>
            <a:r>
              <a:rPr lang="de-DE" b="1" dirty="0" err="1"/>
              <a:t>Edges</a:t>
            </a:r>
            <a:r>
              <a:rPr lang="de-DE" b="1" dirty="0"/>
              <a:t> / Kanten</a:t>
            </a:r>
          </a:p>
          <a:p>
            <a:pPr>
              <a:lnSpc>
                <a:spcPct val="150000"/>
              </a:lnSpc>
            </a:pPr>
            <a:r>
              <a:rPr lang="de-DE" dirty="0"/>
              <a:t>Unterstützt 8 Neuromorphe SNN Frameworks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Hardware und Software Plattformen</a:t>
            </a:r>
          </a:p>
          <a:p>
            <a:pPr>
              <a:lnSpc>
                <a:spcPct val="150000"/>
              </a:lnSpc>
            </a:pPr>
            <a:r>
              <a:rPr lang="de-DE" dirty="0"/>
              <a:t>Entkuppelt SNN Architektur und Framework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0E3CC7-8B7A-CDE4-67E6-F830324A60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Neuromorphic</a:t>
            </a:r>
            <a:r>
              <a:rPr lang="de-DE" dirty="0"/>
              <a:t> Intermediate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48B7D8-A424-12B7-AE54-3605F9224B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883848-D30E-658F-1D87-9E8F92A934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7E2F3-7943-D0F7-AA17-FC6D7756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59" y="2380574"/>
            <a:ext cx="3523916" cy="3972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9B2CE0-8228-3C54-DEF7-3C4335689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59" y="2285272"/>
            <a:ext cx="3486637" cy="406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2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1F2F7-E088-B7FB-B926-13AF5C2F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Primitives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F67F6-D32C-91D5-98E0-CED31E7C1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556001"/>
            <a:ext cx="7246748" cy="3680208"/>
          </a:xfrm>
        </p:spPr>
        <p:txBody>
          <a:bodyPr>
            <a:normAutofit/>
          </a:bodyPr>
          <a:lstStyle/>
          <a:p>
            <a:r>
              <a:rPr lang="de-DE" dirty="0"/>
              <a:t>„Hybrid </a:t>
            </a:r>
            <a:r>
              <a:rPr lang="de-DE" dirty="0" err="1"/>
              <a:t>Continuous</a:t>
            </a:r>
            <a:r>
              <a:rPr lang="de-DE" dirty="0"/>
              <a:t>-time </a:t>
            </a:r>
            <a:r>
              <a:rPr lang="de-DE" dirty="0" err="1"/>
              <a:t>dynamical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“</a:t>
            </a:r>
          </a:p>
          <a:p>
            <a:pPr lvl="2"/>
            <a:r>
              <a:rPr lang="de-DE" dirty="0"/>
              <a:t>Dynamiken diskreter Zeit</a:t>
            </a:r>
          </a:p>
          <a:p>
            <a:pPr lvl="2"/>
            <a:r>
              <a:rPr lang="de-DE" dirty="0"/>
              <a:t>Und kontinuierlicher Zeit</a:t>
            </a:r>
          </a:p>
          <a:p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b="1" dirty="0" err="1"/>
              <a:t>NIRNode</a:t>
            </a:r>
            <a:endParaRPr lang="de-DE" b="1" dirty="0"/>
          </a:p>
          <a:p>
            <a:pPr lvl="2"/>
            <a:r>
              <a:rPr lang="de-DE" dirty="0"/>
              <a:t>Alle Primitives erben zu Beginn von </a:t>
            </a:r>
            <a:r>
              <a:rPr lang="de-DE" dirty="0" err="1"/>
              <a:t>NIRNode</a:t>
            </a:r>
            <a:endParaRPr lang="de-DE" dirty="0"/>
          </a:p>
          <a:p>
            <a:r>
              <a:rPr lang="de-DE" dirty="0"/>
              <a:t>Eingabe Beschreibung (</a:t>
            </a:r>
            <a:r>
              <a:rPr lang="de-DE" dirty="0" err="1"/>
              <a:t>shape</a:t>
            </a:r>
            <a:r>
              <a:rPr lang="de-DE"/>
              <a:t>, Typ</a:t>
            </a:r>
            <a:r>
              <a:rPr lang="de-DE" dirty="0"/>
              <a:t>)</a:t>
            </a:r>
          </a:p>
          <a:p>
            <a:r>
              <a:rPr lang="de-DE" dirty="0"/>
              <a:t>Ausgabe Beschreibung</a:t>
            </a:r>
          </a:p>
          <a:p>
            <a:r>
              <a:rPr lang="de-DE" dirty="0"/>
              <a:t>Parameter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B7FC54-21A9-726C-C5D8-B09EDCCCD8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A0C8A8-6524-1CCC-6392-EE956CF71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2CC131D-AEBE-2EEA-452F-7212B53459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Generelle Architektur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735648-5A72-000C-0071-30376C67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790" y="1820289"/>
            <a:ext cx="3428606" cy="39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9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8BB9-389E-13CF-6495-E8DB27F4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D1819-D3EB-20ED-DD66-C3F7D01A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Primitives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529096-9585-CDE9-1542-8C004382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701EDB-C456-4337-B8F0-567065A27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3DF956-C0D5-3BC1-CF1A-6A44055DF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59360" y="1155671"/>
            <a:ext cx="5569200" cy="378000"/>
          </a:xfrm>
        </p:spPr>
        <p:txBody>
          <a:bodyPr/>
          <a:lstStyle/>
          <a:p>
            <a:r>
              <a:rPr lang="de-DE" dirty="0"/>
              <a:t>Beispiel Primitive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AB737B-3C3B-70F4-6A0E-F8E00100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43" y="1533671"/>
            <a:ext cx="9021434" cy="1743318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87FB4A4-3145-B05D-6EA5-7BF971A06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70" y="3276989"/>
            <a:ext cx="3494404" cy="3429000"/>
          </a:xfrm>
          <a:prstGeom prst="rect">
            <a:avLst/>
          </a:prstGeom>
        </p:spPr>
      </p:pic>
      <p:pic>
        <p:nvPicPr>
          <p:cNvPr id="15" name="Picture 14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DF0F6E4A-27FF-FB88-2F2B-6D8DD558D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127" y="3473256"/>
            <a:ext cx="3860825" cy="290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3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B238-2270-A4A6-567D-FB6E3F23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790F8-C9E2-31BF-44AD-2A49F636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 &amp; Ergebnisse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6D3D11-D3B4-6DC3-C71E-390E7FBB31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BE3204-B074-CD4A-00C3-E290DD9A7D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429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72F8-FDA9-B325-5CCE-541BD3AB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C7A8B-3B92-E25E-A758-45D780D9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Ursprünglicher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BD0C25-F47B-AA9B-4004-47A9711A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09343"/>
            <a:ext cx="11471638" cy="46268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Analyse der existierenden SNN Implementierung des </a:t>
            </a:r>
            <a:r>
              <a:rPr lang="de-DE" dirty="0" err="1"/>
              <a:t>SPICEnets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In Teile spalten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Parameter der Teile analysieren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Primitives konzeptionieren</a:t>
            </a:r>
          </a:p>
          <a:p>
            <a:pPr>
              <a:lnSpc>
                <a:spcPct val="150000"/>
              </a:lnSpc>
            </a:pPr>
            <a:r>
              <a:rPr lang="de-DE" dirty="0"/>
              <a:t>Integration in das NIR Python Framework</a:t>
            </a:r>
          </a:p>
          <a:p>
            <a:pPr>
              <a:lnSpc>
                <a:spcPct val="150000"/>
              </a:lnSpc>
            </a:pPr>
            <a:r>
              <a:rPr lang="de-DE" dirty="0"/>
              <a:t>Replizierbare Tests für SNN </a:t>
            </a:r>
            <a:r>
              <a:rPr lang="de-DE" dirty="0" err="1"/>
              <a:t>SPICEnet</a:t>
            </a:r>
            <a:r>
              <a:rPr lang="de-DE" dirty="0"/>
              <a:t> konzeptionieren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Auf verschiedenen SNN Plattformen evaluieren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DDA195-2EC2-B3AC-5683-EAE4800632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48583D-5FB2-5462-B920-8BE80A7A6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77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C54AF-B9F0-A8D2-7D3B-7F5C6A8D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B1CE0-E51E-E249-CDA2-A5FB8856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Ursprünglicher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B474A8-1417-50C7-C99F-D4B8AD56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DE" dirty="0"/>
              <a:t>Analyse der existierenden SNN Implementierung des </a:t>
            </a:r>
            <a:r>
              <a:rPr lang="de-DE" dirty="0" err="1"/>
              <a:t>SPICEnets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>
                <a:solidFill>
                  <a:srgbClr val="FF0000"/>
                </a:solidFill>
              </a:rPr>
              <a:t>Verwendet Großteil non-</a:t>
            </a:r>
            <a:r>
              <a:rPr lang="de-DE" dirty="0" err="1">
                <a:solidFill>
                  <a:srgbClr val="FF0000"/>
                </a:solidFill>
              </a:rPr>
              <a:t>spiking</a:t>
            </a:r>
            <a:r>
              <a:rPr lang="de-DE" dirty="0">
                <a:solidFill>
                  <a:srgbClr val="FF0000"/>
                </a:solidFill>
              </a:rPr>
              <a:t> Komponenten</a:t>
            </a:r>
          </a:p>
          <a:p>
            <a:pPr marL="469800" lvl="2" indent="0">
              <a:lnSpc>
                <a:spcPct val="150000"/>
              </a:lnSpc>
              <a:buNone/>
            </a:pPr>
            <a:r>
              <a:rPr lang="de-DE" dirty="0">
                <a:solidFill>
                  <a:srgbClr val="FF0000"/>
                </a:solidFill>
              </a:rPr>
              <a:t>=&gt; Nicht in NIR integrierbar</a:t>
            </a:r>
          </a:p>
          <a:p>
            <a:pPr lvl="2">
              <a:lnSpc>
                <a:spcPct val="150000"/>
              </a:lnSpc>
            </a:pPr>
            <a:endParaRPr lang="de-DE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>
                <a:solidFill>
                  <a:schemeClr val="tx2"/>
                </a:solidFill>
              </a:rPr>
              <a:t>Quasi nichts aus der alten Version verwendbar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>
                <a:solidFill>
                  <a:schemeClr val="tx2"/>
                </a:solidFill>
              </a:rPr>
              <a:t>Alternative: Kleine eigene SNN Komponenten implementieren (SOM Forward </a:t>
            </a:r>
            <a:r>
              <a:rPr lang="de-DE" dirty="0" err="1">
                <a:solidFill>
                  <a:schemeClr val="tx2"/>
                </a:solidFill>
              </a:rPr>
              <a:t>Pass</a:t>
            </a:r>
            <a:r>
              <a:rPr lang="de-DE" dirty="0">
                <a:solidFill>
                  <a:schemeClr val="tx2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>
                <a:solidFill>
                  <a:schemeClr val="tx2"/>
                </a:solidFill>
              </a:rPr>
              <a:t>Der Rest bleibt gleich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D287C6-E536-04DE-3FB8-4D1C3CD810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BD623-950F-B51D-6FAE-2593DB9A59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A69301-82BF-49B6-24EE-632CA5437B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8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1F8A-B1D6-4EEA-96BF-214F88A8F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21C69-7AE0-CD28-9BB5-D703BC26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B9D7D-9A5C-530B-F1C9-51B208C8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 err="1"/>
              <a:t>unsupervised</a:t>
            </a:r>
            <a:r>
              <a:rPr lang="de-DE" dirty="0"/>
              <a:t> -&gt; </a:t>
            </a:r>
            <a:r>
              <a:rPr lang="de-DE" dirty="0" err="1"/>
              <a:t>supervised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Generierung von synthetischen Daten</a:t>
            </a:r>
          </a:p>
          <a:p>
            <a:pPr>
              <a:lnSpc>
                <a:spcPct val="150000"/>
              </a:lnSpc>
            </a:pPr>
            <a:r>
              <a:rPr lang="de-DE" dirty="0"/>
              <a:t>Wählen einer Modell Architektur</a:t>
            </a:r>
          </a:p>
          <a:p>
            <a:pPr>
              <a:lnSpc>
                <a:spcPct val="150000"/>
              </a:lnSpc>
            </a:pPr>
            <a:r>
              <a:rPr lang="de-DE" dirty="0"/>
              <a:t>Training des Modells</a:t>
            </a:r>
          </a:p>
          <a:p>
            <a:pPr>
              <a:lnSpc>
                <a:spcPct val="150000"/>
              </a:lnSpc>
            </a:pPr>
            <a:r>
              <a:rPr lang="de-DE" dirty="0"/>
              <a:t>Evaluierung der Performance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77D6B6-39AE-113D-98BF-5D58A42DB6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Trainieren der SOM SNN Berechnung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A1D7BB-03CB-CE06-F55A-88152FB9FB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3B1D45-D33E-BD49-42EC-3CD19E61E0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CEBC6-FCFA-CB55-D217-B1E16DCA8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07" y="1190653"/>
            <a:ext cx="2730505" cy="447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18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1ED3-5A28-76D1-7A14-336784BF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90F01-3112-AAA6-1E7F-32804299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SNN Trainingsansätze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BE1450-9243-FACB-007E-747B14F36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2228079"/>
            <a:ext cx="5736001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Wählen einer </a:t>
            </a:r>
            <a:r>
              <a:rPr lang="de-DE" b="1" dirty="0"/>
              <a:t>Encoding </a:t>
            </a:r>
            <a:r>
              <a:rPr lang="de-DE" b="1" dirty="0" err="1"/>
              <a:t>Strategy</a:t>
            </a:r>
            <a:endParaRPr lang="de-DE" b="1" dirty="0"/>
          </a:p>
          <a:p>
            <a:pPr>
              <a:lnSpc>
                <a:spcPct val="150000"/>
              </a:lnSpc>
            </a:pPr>
            <a:r>
              <a:rPr lang="de-DE" dirty="0"/>
              <a:t>Inputs nach Strategie </a:t>
            </a:r>
            <a:r>
              <a:rPr lang="de-DE" b="1" dirty="0" err="1"/>
              <a:t>Encoden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SNN Architektur wählen</a:t>
            </a:r>
          </a:p>
          <a:p>
            <a:pPr>
              <a:lnSpc>
                <a:spcPct val="150000"/>
              </a:lnSpc>
            </a:pPr>
            <a:r>
              <a:rPr lang="de-DE" dirty="0"/>
              <a:t>SNN direkt trainieren</a:t>
            </a:r>
          </a:p>
          <a:p>
            <a:pPr>
              <a:lnSpc>
                <a:spcPct val="150000"/>
              </a:lnSpc>
            </a:pPr>
            <a:r>
              <a:rPr lang="de-DE" b="1" dirty="0" err="1"/>
              <a:t>Decoded</a:t>
            </a:r>
            <a:r>
              <a:rPr lang="de-DE" dirty="0"/>
              <a:t> SNN Ausgabe und evaluieren</a:t>
            </a:r>
          </a:p>
          <a:p>
            <a:pPr>
              <a:lnSpc>
                <a:spcPct val="150000"/>
              </a:lnSpc>
            </a:pPr>
            <a:r>
              <a:rPr lang="de-DE" dirty="0"/>
              <a:t>Aber keine „Tricks“ nötig - optimal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9987-62B1-9F13-AACD-E8DFF7D83D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764000"/>
            <a:ext cx="5000276" cy="378000"/>
          </a:xfrm>
        </p:spPr>
        <p:txBody>
          <a:bodyPr/>
          <a:lstStyle/>
          <a:p>
            <a:r>
              <a:rPr lang="de-DE" dirty="0"/>
              <a:t>SNN First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4D085-D749-64B2-939A-E40050F61E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F86BD6-203D-0A69-7D88-691C6B32C2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85A7908-2312-B14E-026F-6D26210AA364}"/>
              </a:ext>
            </a:extLst>
          </p:cNvPr>
          <p:cNvSpPr txBox="1">
            <a:spLocks/>
          </p:cNvSpPr>
          <p:nvPr/>
        </p:nvSpPr>
        <p:spPr>
          <a:xfrm>
            <a:off x="6487240" y="1764000"/>
            <a:ext cx="5000276" cy="3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9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04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3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ANN First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968A984-FAB4-2C85-CA8E-B8A5E8D63B59}"/>
              </a:ext>
            </a:extLst>
          </p:cNvPr>
          <p:cNvSpPr txBox="1">
            <a:spLocks/>
          </p:cNvSpPr>
          <p:nvPr/>
        </p:nvSpPr>
        <p:spPr>
          <a:xfrm>
            <a:off x="6455999" y="2228079"/>
            <a:ext cx="5736001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304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16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dirty="0" err="1"/>
              <a:t>Artifical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Optimisieren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Evaluieren</a:t>
            </a:r>
          </a:p>
          <a:p>
            <a:pPr>
              <a:lnSpc>
                <a:spcPct val="150000"/>
              </a:lnSpc>
            </a:pPr>
            <a:r>
              <a:rPr lang="de-DE" dirty="0"/>
              <a:t>Transformieren (ANN -&gt; SNN)</a:t>
            </a:r>
          </a:p>
          <a:p>
            <a:pPr>
              <a:lnSpc>
                <a:spcPct val="150000"/>
              </a:lnSpc>
            </a:pPr>
            <a:r>
              <a:rPr lang="de-DE" dirty="0"/>
              <a:t>SNN Evaluieren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C00000"/>
                </a:solidFill>
              </a:rPr>
              <a:t>SNN Architektur nicht optimal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CC966A-CDB4-3BBF-B794-2BE680FD2033}"/>
              </a:ext>
            </a:extLst>
          </p:cNvPr>
          <p:cNvSpPr/>
          <p:nvPr/>
        </p:nvSpPr>
        <p:spPr>
          <a:xfrm>
            <a:off x="6095819" y="1545652"/>
            <a:ext cx="4793046" cy="444461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AB61F5-442D-AE3A-D9C8-A28FD08C3F09}"/>
              </a:ext>
            </a:extLst>
          </p:cNvPr>
          <p:cNvSpPr/>
          <p:nvPr/>
        </p:nvSpPr>
        <p:spPr>
          <a:xfrm>
            <a:off x="100899" y="1545652"/>
            <a:ext cx="5523533" cy="444461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65993-69D7-BAB6-B2B0-BA01DE5354DB}"/>
              </a:ext>
            </a:extLst>
          </p:cNvPr>
          <p:cNvSpPr txBox="1"/>
          <p:nvPr/>
        </p:nvSpPr>
        <p:spPr>
          <a:xfrm>
            <a:off x="4391505" y="1623150"/>
            <a:ext cx="9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Maybe?</a:t>
            </a:r>
          </a:p>
        </p:txBody>
      </p:sp>
    </p:spTree>
    <p:extLst>
      <p:ext uri="{BB962C8B-B14F-4D97-AF65-F5344CB8AC3E}">
        <p14:creationId xmlns:p14="http://schemas.microsoft.com/office/powerpoint/2010/main" val="282744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B641-5392-B682-5F2C-C12443EE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88736-7217-98DE-11A2-2F84FCA0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47697A-90E6-81B8-B1C5-71C7E42F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DE" dirty="0"/>
              <a:t>Standardabweichung (</a:t>
            </a:r>
            <a:r>
              <a:rPr lang="el-GR" dirty="0"/>
              <a:t>σ</a:t>
            </a:r>
            <a:r>
              <a:rPr lang="de-DE" dirty="0"/>
              <a:t>, z) von 0.1 bis 2*PI</a:t>
            </a:r>
          </a:p>
          <a:p>
            <a:pPr>
              <a:lnSpc>
                <a:spcPct val="150000"/>
              </a:lnSpc>
            </a:pPr>
            <a:r>
              <a:rPr lang="de-DE" dirty="0"/>
              <a:t>Durchschnitt / </a:t>
            </a:r>
            <a:r>
              <a:rPr lang="de-DE" dirty="0" err="1"/>
              <a:t>Expectation</a:t>
            </a:r>
            <a:r>
              <a:rPr lang="de-DE" dirty="0"/>
              <a:t> (y) von –PI bis +PI</a:t>
            </a:r>
          </a:p>
          <a:p>
            <a:pPr>
              <a:lnSpc>
                <a:spcPct val="150000"/>
              </a:lnSpc>
            </a:pPr>
            <a:r>
              <a:rPr lang="de-DE" dirty="0"/>
              <a:t>Eingabe Werte (x) zwischen -3</a:t>
            </a:r>
            <a:r>
              <a:rPr lang="el-GR" dirty="0"/>
              <a:t>σ</a:t>
            </a:r>
            <a:r>
              <a:rPr lang="de-DE" dirty="0"/>
              <a:t> und +3</a:t>
            </a:r>
            <a:r>
              <a:rPr lang="el-GR" dirty="0"/>
              <a:t>σ 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Momentane Probleme: 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Sehr niedrige STDs =&gt; sehr hohe Ausreiserwerte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Limitierte Bereiche – funktioniert nur in diesen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Right </a:t>
            </a:r>
            <a:r>
              <a:rPr lang="de-DE" dirty="0" err="1"/>
              <a:t>Tailed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8C0BC3-CF5E-5B4C-40EF-CEE4679F3C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Synthetic</a:t>
            </a:r>
            <a:r>
              <a:rPr lang="de-DE" dirty="0"/>
              <a:t> Data Generation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C73FB3-0756-A81B-9044-03D53D6E8C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4F7B99-4F54-3012-8055-06F17ED99D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D73D0D-FE9F-5507-9B08-8EC66C43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881" y="1690382"/>
            <a:ext cx="5833635" cy="1140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88B1C-0C8D-0899-396C-436B96C2F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107" y="2930165"/>
            <a:ext cx="4827409" cy="33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FD04-F27F-4EEF-E074-8C5686B3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18D84-A882-8B3C-6CC8-FF84902E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F5EFB-D032-4583-4108-E64229A3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Versuche mit mehreren Architekturen: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Alle relativ klein: Input – Hidden * (1 </a:t>
            </a:r>
            <a:r>
              <a:rPr lang="de-DE" dirty="0" err="1"/>
              <a:t>to</a:t>
            </a:r>
            <a:r>
              <a:rPr lang="de-DE" dirty="0"/>
              <a:t> 3) – Output</a:t>
            </a:r>
          </a:p>
          <a:p>
            <a:pPr>
              <a:lnSpc>
                <a:spcPct val="150000"/>
              </a:lnSpc>
            </a:pPr>
            <a:r>
              <a:rPr lang="de-DE" dirty="0"/>
              <a:t>Teils Adam oder SGD Optimizer</a:t>
            </a:r>
          </a:p>
          <a:p>
            <a:pPr>
              <a:lnSpc>
                <a:spcPct val="150000"/>
              </a:lnSpc>
            </a:pPr>
            <a:r>
              <a:rPr lang="de-DE" dirty="0"/>
              <a:t>Teils Dropout</a:t>
            </a:r>
          </a:p>
          <a:p>
            <a:pPr>
              <a:lnSpc>
                <a:spcPct val="150000"/>
              </a:lnSpc>
            </a:pPr>
            <a:r>
              <a:rPr lang="de-DE" dirty="0"/>
              <a:t>Mean </a:t>
            </a:r>
            <a:r>
              <a:rPr lang="de-DE" dirty="0" err="1"/>
              <a:t>Squared</a:t>
            </a:r>
            <a:r>
              <a:rPr lang="de-DE" dirty="0"/>
              <a:t> Error Loss</a:t>
            </a:r>
          </a:p>
          <a:p>
            <a:pPr>
              <a:lnSpc>
                <a:spcPct val="150000"/>
              </a:lnSpc>
            </a:pPr>
            <a:r>
              <a:rPr lang="de-DE" dirty="0"/>
              <a:t>SNN Transformation ist nur das aufrufen einer Funktion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9875D5-BC8F-63D3-657A-DDE05DFDCD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ANN Training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4B97FA-8FC7-43CB-8F42-A23C854F59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16EC42-E4D2-CFAB-F08C-FD5BE951AF1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467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F7A6-7843-4F4C-93B9-3ECD4E9F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7B0BF-3F5D-3F68-B882-138A069B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647296-7FB4-524B-8B87-AF84CAC79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NIR ist nur ein Austauschformat</a:t>
            </a:r>
          </a:p>
          <a:p>
            <a:pPr lvl="2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/>
              <a:t>Non-</a:t>
            </a:r>
            <a:r>
              <a:rPr lang="de-DE" dirty="0" err="1"/>
              <a:t>spiking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kann direkt mit NIR sprechen</a:t>
            </a:r>
          </a:p>
          <a:p>
            <a:pPr>
              <a:lnSpc>
                <a:spcPct val="150000"/>
              </a:lnSpc>
            </a:pPr>
            <a:r>
              <a:rPr lang="de-DE" dirty="0"/>
              <a:t>Analyse der </a:t>
            </a:r>
            <a:r>
              <a:rPr lang="de-DE" dirty="0" err="1"/>
              <a:t>SPICEnet</a:t>
            </a:r>
            <a:r>
              <a:rPr lang="de-DE" dirty="0"/>
              <a:t> Parameter / Komponenten</a:t>
            </a:r>
          </a:p>
          <a:p>
            <a:pPr>
              <a:lnSpc>
                <a:spcPct val="150000"/>
              </a:lnSpc>
            </a:pPr>
            <a:r>
              <a:rPr lang="de-DE" dirty="0"/>
              <a:t>Definieren der NIR Architektur</a:t>
            </a:r>
          </a:p>
          <a:p>
            <a:pPr>
              <a:lnSpc>
                <a:spcPct val="150000"/>
              </a:lnSpc>
            </a:pPr>
            <a:r>
              <a:rPr lang="de-DE" dirty="0"/>
              <a:t>Utility Funktionen im </a:t>
            </a:r>
            <a:r>
              <a:rPr lang="de-DE" dirty="0" err="1"/>
              <a:t>SPICEnet</a:t>
            </a:r>
            <a:r>
              <a:rPr lang="de-DE" dirty="0"/>
              <a:t> Package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Training kann im </a:t>
            </a:r>
            <a:r>
              <a:rPr lang="de-DE" dirty="0" err="1">
                <a:solidFill>
                  <a:schemeClr val="accent6">
                    <a:lumMod val="50000"/>
                  </a:schemeClr>
                </a:solidFill>
              </a:rPr>
              <a:t>SPICEnet</a:t>
            </a: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 Package erfolgen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A23730-8710-4A74-2DF8-F8AE825859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Verbinden des </a:t>
            </a:r>
            <a:r>
              <a:rPr lang="de-DE" dirty="0" err="1"/>
              <a:t>SPICEnet</a:t>
            </a:r>
            <a:r>
              <a:rPr lang="de-DE" dirty="0"/>
              <a:t> Packages und NIR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697FC6-5C64-6FF4-AD09-AC67BE1985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0BEC6-B621-8245-FEAA-A859476395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C8DEB3D-3014-4801-FBA0-46DE63C71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47" y="3587426"/>
            <a:ext cx="4701059" cy="25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D700-4002-7B39-6213-1BAFA8E6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7E353-7088-1A0E-B2C5-AFF862EE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 – Architektur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9A6BDF-1ADC-8F1E-8720-23FDF5CA43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0A3C3-7F58-4828-78ED-7B7DDA5DB5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09AE168-496E-3305-9592-363C96D14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83" y="1886264"/>
            <a:ext cx="10805471" cy="30289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FF886F-5A32-09AE-3D8A-1DEA92777E90}"/>
              </a:ext>
            </a:extLst>
          </p:cNvPr>
          <p:cNvSpPr/>
          <p:nvPr/>
        </p:nvSpPr>
        <p:spPr>
          <a:xfrm>
            <a:off x="4114800" y="1537462"/>
            <a:ext cx="7716837" cy="3546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7301D-9F87-C501-0C95-A49D498F9ACE}"/>
              </a:ext>
            </a:extLst>
          </p:cNvPr>
          <p:cNvSpPr/>
          <p:nvPr/>
        </p:nvSpPr>
        <p:spPr>
          <a:xfrm>
            <a:off x="7942997" y="1357950"/>
            <a:ext cx="3998794" cy="40260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CAC72-A910-6499-A5F3-8EC89C58A612}"/>
              </a:ext>
            </a:extLst>
          </p:cNvPr>
          <p:cNvSpPr txBox="1"/>
          <p:nvPr/>
        </p:nvSpPr>
        <p:spPr>
          <a:xfrm>
            <a:off x="1688329" y="5349168"/>
            <a:ext cx="7747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Höhere Level instanziieren direkt niedrigere </a:t>
            </a:r>
            <a:r>
              <a:rPr lang="de-DE" b="1" dirty="0"/>
              <a:t>ODER</a:t>
            </a:r>
            <a:r>
              <a:rPr lang="de-DE" dirty="0"/>
              <a:t> nehmen Liste dieser entgegen</a:t>
            </a:r>
          </a:p>
        </p:txBody>
      </p:sp>
    </p:spTree>
    <p:extLst>
      <p:ext uri="{BB962C8B-B14F-4D97-AF65-F5344CB8AC3E}">
        <p14:creationId xmlns:p14="http://schemas.microsoft.com/office/powerpoint/2010/main" val="199200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9AD3-ECD6-0478-C036-4A6B9122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ECD23-927E-746C-9F6D-835884B7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9E690E-45F9-5F17-E9AD-4AC1D1BD0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NIR ist nur ein normales Python Package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Hat nichts direkt mit Export / Import zu tun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Bietet nur das serialisierte Format</a:t>
            </a:r>
          </a:p>
          <a:p>
            <a:pPr>
              <a:lnSpc>
                <a:spcPct val="150000"/>
              </a:lnSpc>
            </a:pPr>
            <a:r>
              <a:rPr lang="de-DE" dirty="0"/>
              <a:t>Klassen haben keine Funktionalität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Logik (wie Lernen oder Sonstiges) wird nicht mit verteilt – nur Parameter</a:t>
            </a:r>
          </a:p>
          <a:p>
            <a:pPr lvl="3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/>
              <a:t> Learning damit nicht Teil der Integration</a:t>
            </a:r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EEA3BF-1B19-B710-756C-2A526C1A9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Integration der Architektur in NIR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23D006-D2FD-53F2-472E-E6106F9870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74FD07-BBA1-D1AF-1445-803230CA3B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DBDFFDD-ECEF-F132-AF09-18B2804F3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994" y="1287001"/>
            <a:ext cx="349440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8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5A1A-9C09-93D4-550C-07FA1460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50125-752C-D19F-C4A6-DA3973CB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42076C-7AF7-76AA-1AE8-BAA66D6AC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Jede Plattform hat eigene Limitationen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Implementieren der </a:t>
            </a:r>
            <a:r>
              <a:rPr lang="de-DE" b="1" dirty="0"/>
              <a:t>Austauschklasse </a:t>
            </a:r>
            <a:r>
              <a:rPr lang="de-DE" b="1" dirty="0" err="1"/>
              <a:t>SPICEnet</a:t>
            </a:r>
            <a:r>
              <a:rPr lang="de-DE" b="1" dirty="0"/>
              <a:t> </a:t>
            </a:r>
            <a:r>
              <a:rPr lang="de-DE" dirty="0"/>
              <a:t>auf jeder Plattform</a:t>
            </a:r>
          </a:p>
          <a:p>
            <a:pPr lvl="2">
              <a:lnSpc>
                <a:spcPct val="150000"/>
              </a:lnSpc>
            </a:pPr>
            <a:r>
              <a:rPr lang="de-DE" b="1" dirty="0"/>
              <a:t>Optimal: </a:t>
            </a:r>
            <a:r>
              <a:rPr lang="de-DE" dirty="0"/>
              <a:t>Effiziente optimierte (geg. Hardware) Implementierung wenn möglich</a:t>
            </a:r>
          </a:p>
          <a:p>
            <a:pPr>
              <a:lnSpc>
                <a:spcPct val="150000"/>
              </a:lnSpc>
            </a:pPr>
            <a:r>
              <a:rPr lang="de-DE" b="1" dirty="0"/>
              <a:t>Unser trainiertes SOM Netzwerk </a:t>
            </a:r>
            <a:r>
              <a:rPr lang="de-DE" dirty="0"/>
              <a:t>ist generisch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Auf vielen Plattformen verwendbar..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.. Aber nicht </a:t>
            </a:r>
            <a:r>
              <a:rPr lang="de-DE" dirty="0" err="1"/>
              <a:t>optimisiert</a:t>
            </a:r>
            <a:r>
              <a:rPr lang="de-DE" dirty="0"/>
              <a:t> für diese</a:t>
            </a:r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F77728-2770-1A3E-CA36-4D9508368F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Exportieren in andere Plattformen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FDB935-D4A6-6571-F74F-5BD36AEDB1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9925DD-D2DA-A740-FE6E-77D199260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610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07E1-3215-4B92-D544-BBF06C9D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20668-CDC0-80AD-5E73-11C6DD6F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Abschluss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7A8341-84DF-C6B0-50B0-0738BAFC3C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CE054B-8DF0-42E5-F639-993CDBAEF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9698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4BB9-E087-246E-380A-1728D4BD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AB1A8-F09B-15E8-0696-1E24B9E1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24F4AC-2BBC-3454-5944-45016DD1E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2228079"/>
            <a:ext cx="5736001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SNN Theorie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Keine Erfahrung zu Beginn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Training immer noch etwas Abstrakt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Sehr Interdisziplinär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F90984-1D1C-7DE6-DCA6-4B5D2CE751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764000"/>
            <a:ext cx="5000276" cy="378000"/>
          </a:xfrm>
        </p:spPr>
        <p:txBody>
          <a:bodyPr/>
          <a:lstStyle/>
          <a:p>
            <a:r>
              <a:rPr lang="de-DE" dirty="0"/>
              <a:t>Theoretische Probleme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855A45-E8BD-E586-677C-E341549DF7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8348D-1B29-35BD-2F6C-8A0F5FCF480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AA5A056-3845-3EA6-A106-6831C1D4C4DA}"/>
              </a:ext>
            </a:extLst>
          </p:cNvPr>
          <p:cNvSpPr txBox="1">
            <a:spLocks/>
          </p:cNvSpPr>
          <p:nvPr/>
        </p:nvSpPr>
        <p:spPr>
          <a:xfrm>
            <a:off x="6487240" y="1764000"/>
            <a:ext cx="5000276" cy="3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9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04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3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Praktische Probleme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D1F32E-D9EC-7C47-6AF1-A93054E03FC9}"/>
              </a:ext>
            </a:extLst>
          </p:cNvPr>
          <p:cNvSpPr txBox="1">
            <a:spLocks/>
          </p:cNvSpPr>
          <p:nvPr/>
        </p:nvSpPr>
        <p:spPr>
          <a:xfrm>
            <a:off x="6455999" y="2228079"/>
            <a:ext cx="5736001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304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16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dirty="0"/>
              <a:t>Existierendes SNN </a:t>
            </a:r>
            <a:r>
              <a:rPr lang="de-DE" dirty="0" err="1"/>
              <a:t>SPICEnet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Unterwartet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Plötzlicher Methodik Wechsel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Kann nicht Evaluieren, was nicht da ist</a:t>
            </a:r>
          </a:p>
        </p:txBody>
      </p:sp>
    </p:spTree>
    <p:extLst>
      <p:ext uri="{BB962C8B-B14F-4D97-AF65-F5344CB8AC3E}">
        <p14:creationId xmlns:p14="http://schemas.microsoft.com/office/powerpoint/2010/main" val="2458494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C7A1-6C7D-28A7-DFE2-982A164A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5EF63-BD5C-B4EF-E6BD-CD951AA3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Zukünftige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A06A9-6A0C-5663-8801-DDDA97F1B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487606"/>
            <a:ext cx="5736001" cy="4420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Transformation ANN in SNN</a:t>
            </a:r>
          </a:p>
          <a:p>
            <a:pPr>
              <a:lnSpc>
                <a:spcPct val="150000"/>
              </a:lnSpc>
            </a:pPr>
            <a:r>
              <a:rPr lang="de-DE" dirty="0"/>
              <a:t>NIR Architektur Implementieren</a:t>
            </a:r>
          </a:p>
          <a:p>
            <a:pPr>
              <a:lnSpc>
                <a:spcPct val="150000"/>
              </a:lnSpc>
            </a:pPr>
            <a:r>
              <a:rPr lang="de-DE" dirty="0"/>
              <a:t>Tests und Evaluation von: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SPICEnet</a:t>
            </a:r>
            <a:r>
              <a:rPr lang="de-DE" dirty="0"/>
              <a:t> zu NIR 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NIR zu </a:t>
            </a:r>
            <a:r>
              <a:rPr lang="de-DE" dirty="0" err="1"/>
              <a:t>SPICEnet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SNN SOM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36031-EC14-6D3F-A0FE-D0AFBF9271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8C7EEF-3FC9-FA9D-63AE-DAA80ED38A1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24</a:t>
            </a:fld>
            <a:endParaRPr lang="de-DE"/>
          </a:p>
        </p:txBody>
      </p:sp>
      <p:pic>
        <p:nvPicPr>
          <p:cNvPr id="10" name="Graphic 9" descr="Future outline">
            <a:extLst>
              <a:ext uri="{FF2B5EF4-FFF2-40B4-BE49-F238E27FC236}">
                <a16:creationId xmlns:a16="http://schemas.microsoft.com/office/drawing/2014/main" id="{F97B5EEA-4165-DB3F-E393-83A9964B4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5432" y="1655928"/>
            <a:ext cx="3546143" cy="354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69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300C38-4A89-1785-3A88-75E2F6D8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0" y="583345"/>
            <a:ext cx="5833787" cy="22741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DANKE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A953CA-4F8C-DE8C-EB3D-6E2760070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6993" y="2660702"/>
            <a:ext cx="5833787" cy="227415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Für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eure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Aufmerksamkeit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dirty="0">
              <a:solidFill>
                <a:srgbClr val="FFFFFF"/>
              </a:solidFill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4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Noch </a:t>
            </a:r>
            <a:r>
              <a:rPr lang="en-US" sz="4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Fragen</a:t>
            </a:r>
            <a:r>
              <a:rPr lang="en-US" sz="4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169B93-61B5-C7B9-FE2D-958CBE258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3FEB9C3-1FF9-4F1A-B0DB-7E320F93F669}" type="slidenum">
              <a:rPr lang="en-US" sz="1200">
                <a:solidFill>
                  <a:srgbClr val="FFFFFF"/>
                </a:solidFill>
                <a:latin typeface="+mn-lt"/>
              </a:rPr>
              <a:pPr>
                <a:spcAft>
                  <a:spcPts val="600"/>
                </a:spcAft>
              </a:pPr>
              <a:t>25</a:t>
            </a:fld>
            <a:endParaRPr lang="en-US" sz="1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31C43EC8-E555-D7B4-F64F-C9F29B7C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16283D"/>
      </a:dk1>
      <a:lt1>
        <a:sysClr val="window" lastClr="FFFFFF"/>
      </a:lt1>
      <a:dk2>
        <a:srgbClr val="000000"/>
      </a:dk2>
      <a:lt2>
        <a:srgbClr val="E7E6E6"/>
      </a:lt2>
      <a:accent1>
        <a:srgbClr val="C72426"/>
      </a:accent1>
      <a:accent2>
        <a:srgbClr val="16283D"/>
      </a:accent2>
      <a:accent3>
        <a:srgbClr val="D6EAF5"/>
      </a:accent3>
      <a:accent4>
        <a:srgbClr val="FFE763"/>
      </a:accent4>
      <a:accent5>
        <a:srgbClr val="603F80"/>
      </a:accent5>
      <a:accent6>
        <a:srgbClr val="83AC54"/>
      </a:accent6>
      <a:hlink>
        <a:srgbClr val="2D87B8"/>
      </a:hlink>
      <a:folHlink>
        <a:srgbClr val="B1D7EB"/>
      </a:folHlink>
    </a:clrScheme>
    <a:fontScheme name="TH Nürnberg OHM">
      <a:majorFont>
        <a:latin typeface="Public Sans ExtraBold"/>
        <a:ea typeface=""/>
        <a:cs typeface=""/>
      </a:majorFont>
      <a:minorFont>
        <a:latin typeface="Public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>
        <a:normAutofit/>
      </a:bodyPr>
      <a:lstStyle>
        <a:defPPr algn="ctr">
          <a:defRPr sz="2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-02-22 Präsentationsvorlage - Kopie.potx" id="{B0D07936-725D-4CD1-A297-760B5C13FA30}" vid="{E93DF1DA-F3D8-42D9-B96E-9A8FB9047E3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55587CCF370D4BAB6E804BA590D5A8" ma:contentTypeVersion="8" ma:contentTypeDescription="Ein neues Dokument erstellen." ma:contentTypeScope="" ma:versionID="a72168dd2c648c425de6094b5711c259">
  <xsd:schema xmlns:xsd="http://www.w3.org/2001/XMLSchema" xmlns:xs="http://www.w3.org/2001/XMLSchema" xmlns:p="http://schemas.microsoft.com/office/2006/metadata/properties" xmlns:ns3="2b728891-83ba-4fdd-8aed-b513d535e672" xmlns:ns4="ff43139c-a213-4c07-89b8-063666ade3a1" targetNamespace="http://schemas.microsoft.com/office/2006/metadata/properties" ma:root="true" ma:fieldsID="6c991ea260e8b91dfe451959bff284c0" ns3:_="" ns4:_="">
    <xsd:import namespace="2b728891-83ba-4fdd-8aed-b513d535e672"/>
    <xsd:import namespace="ff43139c-a213-4c07-89b8-063666ade3a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28891-83ba-4fdd-8aed-b513d535e67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3139c-a213-4c07-89b8-063666ade3a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728891-83ba-4fdd-8aed-b513d535e672" xsi:nil="true"/>
  </documentManagement>
</p:properties>
</file>

<file path=customXml/itemProps1.xml><?xml version="1.0" encoding="utf-8"?>
<ds:datastoreItem xmlns:ds="http://schemas.openxmlformats.org/officeDocument/2006/customXml" ds:itemID="{829A0A7E-105A-468F-8F1B-352E1F3DF2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728891-83ba-4fdd-8aed-b513d535e672"/>
    <ds:schemaRef ds:uri="ff43139c-a213-4c07-89b8-063666ade3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B581F0-C6FE-4A19-AB98-B2AC6FF12E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ECE6F6-9E18-4F3A-8248-F95E42EF9AC5}">
  <ds:schemaRefs>
    <ds:schemaRef ds:uri="http://schemas.openxmlformats.org/package/2006/metadata/core-properties"/>
    <ds:schemaRef ds:uri="http://schemas.microsoft.com/office/2006/documentManagement/types"/>
    <ds:schemaRef ds:uri="ff43139c-a213-4c07-89b8-063666ade3a1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2b728891-83ba-4fdd-8aed-b513d535e67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Vorlage_Präsentation_Ohm_neu</Template>
  <TotalTime>0</TotalTime>
  <Words>864</Words>
  <Application>Microsoft Office PowerPoint</Application>
  <PresentationFormat>Widescreen</PresentationFormat>
  <Paragraphs>237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Public Sans</vt:lpstr>
      <vt:lpstr>Public Sans ExtraBold</vt:lpstr>
      <vt:lpstr>Public Sans Medium</vt:lpstr>
      <vt:lpstr>Arial</vt:lpstr>
      <vt:lpstr>Calibri</vt:lpstr>
      <vt:lpstr>Symbol</vt:lpstr>
      <vt:lpstr>Office</vt:lpstr>
      <vt:lpstr>Bachelorseminar</vt:lpstr>
      <vt:lpstr>Agenda</vt:lpstr>
      <vt:lpstr>Ursprüngliche Zielstellung</vt:lpstr>
      <vt:lpstr>SPICEnet – Generell</vt:lpstr>
      <vt:lpstr>Spiking Neural Networks</vt:lpstr>
      <vt:lpstr>PowerPoint Presentation</vt:lpstr>
      <vt:lpstr>PowerPoint Presentation</vt:lpstr>
      <vt:lpstr>NIR</vt:lpstr>
      <vt:lpstr>Primitives</vt:lpstr>
      <vt:lpstr>Primitives</vt:lpstr>
      <vt:lpstr>Methodik &amp; Ergebnisse</vt:lpstr>
      <vt:lpstr>Ursprünglicher Plan</vt:lpstr>
      <vt:lpstr>Ursprünglicher Plan</vt:lpstr>
      <vt:lpstr>SOM Implementierung</vt:lpstr>
      <vt:lpstr>SNN Trainingsansätze</vt:lpstr>
      <vt:lpstr>SOM Implementierung</vt:lpstr>
      <vt:lpstr>SOM Implementierung</vt:lpstr>
      <vt:lpstr>NIR Integration</vt:lpstr>
      <vt:lpstr>NIR Integration – Architektur</vt:lpstr>
      <vt:lpstr>NIR Integration</vt:lpstr>
      <vt:lpstr>NIR Integration</vt:lpstr>
      <vt:lpstr>Abschluss</vt:lpstr>
      <vt:lpstr>Probleme</vt:lpstr>
      <vt:lpstr>Zukünftige Schritte</vt:lpstr>
      <vt:lpstr>DANKE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Bruns, Alice</dc:creator>
  <cp:lastModifiedBy>mitlaenderlu88263</cp:lastModifiedBy>
  <cp:revision>8</cp:revision>
  <dcterms:created xsi:type="dcterms:W3CDTF">2023-03-09T13:42:37Z</dcterms:created>
  <dcterms:modified xsi:type="dcterms:W3CDTF">2025-02-05T17:26:44Z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0x010100BC55587CCF370D4BAB6E804BA590D5A8</vt:lpwstr>
  </property>
</Properties>
</file>