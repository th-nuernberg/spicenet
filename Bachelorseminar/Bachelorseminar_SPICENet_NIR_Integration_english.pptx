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0"/>
  </p:notesMasterIdLst>
  <p:sldIdLst>
    <p:sldId id="256" r:id="rId5"/>
    <p:sldId id="258" r:id="rId6"/>
    <p:sldId id="259" r:id="rId7"/>
    <p:sldId id="260" r:id="rId8"/>
    <p:sldId id="275" r:id="rId9"/>
    <p:sldId id="276" r:id="rId10"/>
    <p:sldId id="277" r:id="rId11"/>
    <p:sldId id="273" r:id="rId12"/>
    <p:sldId id="263" r:id="rId13"/>
    <p:sldId id="274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6" r:id="rId22"/>
    <p:sldId id="285" r:id="rId23"/>
    <p:sldId id="287" r:id="rId24"/>
    <p:sldId id="288" r:id="rId25"/>
    <p:sldId id="289" r:id="rId26"/>
    <p:sldId id="290" r:id="rId27"/>
    <p:sldId id="291" r:id="rId28"/>
    <p:sldId id="269" r:id="rId2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423D11A-1DF6-EE6B-4EF2-11716DE30A45}" name="Romina Dertscheny-Schwarz" initials="RDS" userId="S::dertscheny-schwarz@eworks-gmbh.de::bf7a6196-0876-49c8-aa05-96405fe9696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CF8643-740F-4B12-9562-29EB36F3427D}" v="1246" dt="2025-01-15T15:07:25.0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720" y="3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ABFF51-2098-4D5A-94F9-58B977AD4BE2}" type="datetimeFigureOut">
              <a:rPr lang="de-DE" smtClean="0"/>
              <a:t>05.02.2025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9664C4-E931-43C8-BC1C-83625EAB2A7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0671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664C4-E931-43C8-BC1C-83625EAB2A7A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8125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073DD71F-F627-E252-D236-A435D6E7BD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88" y="226800"/>
            <a:ext cx="2161036" cy="53035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D2F2999-1E71-B531-4878-5469A20D20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7188" y="2539683"/>
            <a:ext cx="8456400" cy="2387600"/>
          </a:xfrm>
        </p:spPr>
        <p:txBody>
          <a:bodyPr anchor="b"/>
          <a:lstStyle>
            <a:lvl1pPr algn="l">
              <a:lnSpc>
                <a:spcPts val="8800"/>
              </a:lnSpc>
              <a:defRPr sz="8600"/>
            </a:lvl1pPr>
          </a:lstStyle>
          <a:p>
            <a:r>
              <a:rPr lang="de-DE" dirty="0"/>
              <a:t>Titel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pic>
        <p:nvPicPr>
          <p:cNvPr id="3" name="omega">
            <a:extLst>
              <a:ext uri="{FF2B5EF4-FFF2-40B4-BE49-F238E27FC236}">
                <a16:creationId xmlns:a16="http://schemas.microsoft.com/office/drawing/2014/main" id="{64602DA8-F54E-2EFA-E5E8-6EF92CA495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12018" t="5459" r="26728" b="7828"/>
          <a:stretch/>
        </p:blipFill>
        <p:spPr>
          <a:xfrm>
            <a:off x="4831492" y="0"/>
            <a:ext cx="73605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8661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63A6AF66-564C-B576-EB60-C637F75D6B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9" t="9551" r="6700" b="12301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B7EBB088-51C6-A0C7-581F-AADFB085DD75}"/>
              </a:ext>
            </a:extLst>
          </p:cNvPr>
          <p:cNvSpPr/>
          <p:nvPr userDrawn="1"/>
        </p:nvSpPr>
        <p:spPr>
          <a:xfrm>
            <a:off x="0" y="0"/>
            <a:ext cx="9509760" cy="6535153"/>
          </a:xfrm>
          <a:prstGeom prst="rect">
            <a:avLst/>
          </a:prstGeom>
          <a:gradFill>
            <a:gsLst>
              <a:gs pos="9000">
                <a:schemeClr val="bg1"/>
              </a:gs>
              <a:gs pos="49000">
                <a:schemeClr val="bg1">
                  <a:alpha val="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D2F2999-1E71-B531-4878-5469A20D20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7188" y="2539683"/>
            <a:ext cx="8456400" cy="2387600"/>
          </a:xfrm>
        </p:spPr>
        <p:txBody>
          <a:bodyPr anchor="b"/>
          <a:lstStyle>
            <a:lvl1pPr algn="l">
              <a:lnSpc>
                <a:spcPts val="8800"/>
              </a:lnSpc>
              <a:defRPr sz="8600"/>
            </a:lvl1pPr>
          </a:lstStyle>
          <a:p>
            <a:r>
              <a:rPr lang="de-DE" dirty="0"/>
              <a:t>Titel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73DD71F-F627-E252-D236-A435D6E7B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88" y="226800"/>
            <a:ext cx="2161036" cy="530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718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rot mit Bildplatzhal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F15C5735-14A2-5472-0518-FFF8D2B6817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3200" cy="685800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D2F2999-1E71-B531-4878-5469A20D20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7188" y="3756211"/>
            <a:ext cx="8456400" cy="1171071"/>
          </a:xfrm>
        </p:spPr>
        <p:txBody>
          <a:bodyPr anchor="b"/>
          <a:lstStyle>
            <a:lvl1pPr algn="l">
              <a:lnSpc>
                <a:spcPts val="8800"/>
              </a:lnSpc>
              <a:defRPr sz="8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pic>
        <p:nvPicPr>
          <p:cNvPr id="4" name="Grafik 3" descr="Ein Bild, das Text, ClipArt enthält.&#10;&#10;Automatisch generierte Beschreibung">
            <a:extLst>
              <a:ext uri="{FF2B5EF4-FFF2-40B4-BE49-F238E27FC236}">
                <a16:creationId xmlns:a16="http://schemas.microsoft.com/office/drawing/2014/main" id="{4CF58DF2-554F-F3A5-4A77-5B6C5E3A57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88" y="226800"/>
            <a:ext cx="2154940" cy="524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375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Unter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F07878-63EA-3977-B314-9A8C22E2C7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1080000"/>
            <a:ext cx="11471638" cy="52934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Titel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581A20-C1DF-C740-F432-48F016C1A798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  <a:lvl3pPr>
              <a:defRPr/>
            </a:lvl3pPr>
            <a:lvl4pPr>
              <a:defRPr/>
            </a:lvl4pPr>
            <a:lvl5pPr>
              <a:defRPr/>
            </a:lvl5pPr>
            <a:lvl6pPr marL="900000">
              <a:lnSpc>
                <a:spcPts val="1920"/>
              </a:lnSpc>
              <a:defRPr sz="1400"/>
            </a:lvl6pPr>
            <a:lvl7pPr marL="1116000">
              <a:lnSpc>
                <a:spcPts val="1920"/>
              </a:lnSpc>
              <a:defRPr sz="1400"/>
            </a:lvl7pPr>
          </a:lstStyle>
          <a:p>
            <a:pPr lvl="0"/>
            <a:r>
              <a:rPr lang="de-DE" dirty="0"/>
              <a:t>Textinhalt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773C70CF-3387-2970-C095-085C3B4D22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64000"/>
            <a:ext cx="11473200" cy="378000"/>
          </a:xfrm>
        </p:spPr>
        <p:txBody>
          <a:bodyPr>
            <a:noAutofit/>
          </a:bodyPr>
          <a:lstStyle>
            <a:lvl1pPr marL="0" indent="0">
              <a:lnSpc>
                <a:spcPts val="2900"/>
              </a:lnSpc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Untertitel bearbeiten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7857D49-53B5-0925-D270-F58A02A557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99" y="295200"/>
            <a:ext cx="684000" cy="249280"/>
          </a:xfrm>
          <a:prstGeom prst="rect">
            <a:avLst/>
          </a:prstGeom>
        </p:spPr>
      </p:pic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677E45D-EA94-2A05-1E5F-FB39AFC9399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www.th-nuernberg.de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4ED61F9-A129-0FDE-2F50-65CB13897B7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1129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F07878-63EA-3977-B314-9A8C22E2C7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1080000"/>
            <a:ext cx="11471638" cy="52934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Titel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581A20-C1DF-C740-F432-48F016C1A79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0000" y="1797050"/>
            <a:ext cx="11471638" cy="44391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Textinhalt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DB48314-5880-B59F-70F1-0E27E9BF31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99" y="295200"/>
            <a:ext cx="684000" cy="249280"/>
          </a:xfrm>
          <a:prstGeom prst="rect">
            <a:avLst/>
          </a:prstGeom>
        </p:spPr>
      </p:pic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EB0A72-FBC9-69D3-72A5-A1A61E01E9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www.th-nuernberg.de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6696324-603F-BB54-E949-1487348E0A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3302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großer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F6C5E33-7F21-3936-C96B-D7B71F8707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773C70CF-3387-2970-C095-085C3B4D22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803880"/>
            <a:ext cx="11473200" cy="378000"/>
          </a:xfrm>
        </p:spPr>
        <p:txBody>
          <a:bodyPr>
            <a:noAutofit/>
          </a:bodyPr>
          <a:lstStyle>
            <a:lvl1pPr marL="0" indent="0">
              <a:lnSpc>
                <a:spcPts val="2900"/>
              </a:lnSpc>
              <a:buNone/>
              <a:defRPr sz="2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711B9E05-1F66-40E4-8A0B-8DDA6922BA6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0000" y="1280160"/>
            <a:ext cx="11471638" cy="495604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Textinhalt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D40A4FBD-9399-2025-DF41-844B204F11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99" y="295200"/>
            <a:ext cx="684000" cy="249280"/>
          </a:xfrm>
          <a:prstGeom prst="rect">
            <a:avLst/>
          </a:prstGeom>
        </p:spPr>
      </p:pic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B86E67E-6149-2180-D86F-DCFF7F815FC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www.th-nuernberg.de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29539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F07878-63EA-3977-B314-9A8C22E2C7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1080000"/>
            <a:ext cx="11471638" cy="52934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Titel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581A20-C1DF-C740-F432-48F016C1A79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0000" y="2556001"/>
            <a:ext cx="5567834" cy="368020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Textinhalt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C18DFBE-D824-4B92-7420-A11062A353E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www.th-nuernberg.de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F6C5E33-7F21-3936-C96B-D7B71F8707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773C70CF-3387-2970-C095-085C3B4D22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64000"/>
            <a:ext cx="5569200" cy="378000"/>
          </a:xfrm>
        </p:spPr>
        <p:txBody>
          <a:bodyPr>
            <a:noAutofit/>
          </a:bodyPr>
          <a:lstStyle>
            <a:lvl1pPr marL="0" indent="0">
              <a:lnSpc>
                <a:spcPts val="2900"/>
              </a:lnSpc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Untertitel bearbeiten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D5771E45-57C3-2620-B432-B601CECEE52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264000" y="2556001"/>
            <a:ext cx="5569200" cy="368020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Textinhalt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Textplatzhalter 11">
            <a:extLst>
              <a:ext uri="{FF2B5EF4-FFF2-40B4-BE49-F238E27FC236}">
                <a16:creationId xmlns:a16="http://schemas.microsoft.com/office/drawing/2014/main" id="{BABC1A0F-91CF-DFD6-1F8A-E6C2A5DF22C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64000" y="1764000"/>
            <a:ext cx="5569200" cy="378000"/>
          </a:xfrm>
        </p:spPr>
        <p:txBody>
          <a:bodyPr>
            <a:noAutofit/>
          </a:bodyPr>
          <a:lstStyle>
            <a:lvl1pPr marL="0" indent="0">
              <a:lnSpc>
                <a:spcPts val="2900"/>
              </a:lnSpc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Untertitel bearbeiten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661DFCB-8103-CC1D-E336-E8B3816EF7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99" y="295200"/>
            <a:ext cx="684000" cy="24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363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ClipArt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F07878-63EA-3977-B314-9A8C22E2C7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8" y="1057568"/>
            <a:ext cx="4644000" cy="529343"/>
          </a:xfrm>
        </p:spPr>
        <p:txBody>
          <a:bodyPr anchor="t"/>
          <a:lstStyle>
            <a:lvl1pPr>
              <a:defRPr/>
            </a:lvl1pPr>
          </a:lstStyle>
          <a:p>
            <a:r>
              <a:rPr lang="de-DE" dirty="0"/>
              <a:t>Titel bearbeiten (zweizeilig)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581A20-C1DF-C740-F432-48F016C1A79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0000" y="2556001"/>
            <a:ext cx="4644000" cy="368020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Textinhalt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16FEB295-B9E9-46BA-EE53-47FF12B4087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09200" y="332209"/>
            <a:ext cx="6624000" cy="5904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D45CD1F-EA7D-98A3-6B43-67BDEAACCB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99" y="295200"/>
            <a:ext cx="684000" cy="249280"/>
          </a:xfrm>
          <a:prstGeom prst="rect">
            <a:avLst/>
          </a:prstGeom>
        </p:spPr>
      </p:pic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542CFC6-A2F3-0CEB-58F0-7304B6A3025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www.th-nuernberg.de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362378C-8DD8-C152-F6CC-ED005931429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6135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F07878-63EA-3977-B314-9A8C22E2C7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1080000"/>
            <a:ext cx="11471638" cy="52934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Titel bearbeiten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01711F5-F1B0-35F1-0DA8-434EB3E579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99" y="295200"/>
            <a:ext cx="684000" cy="249280"/>
          </a:xfrm>
          <a:prstGeom prst="rect">
            <a:avLst/>
          </a:prstGeom>
        </p:spPr>
      </p:pic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823C215-FBCC-4133-9718-CDB5059618F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www.th-nuernberg.de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017321A5-3E52-01A4-A7FF-6083C229B57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3679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Inhalt, ohne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581A20-C1DF-C740-F432-48F016C1A79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0000" y="1076325"/>
            <a:ext cx="11471638" cy="515988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Textinhalt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DB48314-5880-B59F-70F1-0E27E9BF31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99" y="295200"/>
            <a:ext cx="684000" cy="249280"/>
          </a:xfrm>
          <a:prstGeom prst="rect">
            <a:avLst/>
          </a:prstGeom>
        </p:spPr>
      </p:pic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EB0A72-FBC9-69D3-72A5-A1A61E01E9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www.th-nuernberg.de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6696324-603F-BB54-E949-1487348E0A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2010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Kapitelfolie dunkel (mit Untertitel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2ABEB4-2C14-6FDA-C403-054743E55D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065592"/>
            <a:ext cx="10515600" cy="1500187"/>
          </a:xfrm>
        </p:spPr>
        <p:txBody>
          <a:bodyPr anchor="b"/>
          <a:lstStyle>
            <a:lvl1pPr algn="ctr">
              <a:lnSpc>
                <a:spcPts val="55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des Kapitels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A5DBA6-B732-E2DA-F1F0-78337924C86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022535"/>
            <a:ext cx="10515600" cy="750633"/>
          </a:xfrm>
        </p:spPr>
        <p:txBody>
          <a:bodyPr>
            <a:noAutofit/>
          </a:bodyPr>
          <a:lstStyle>
            <a:lvl1pPr marL="0" indent="0" algn="ctr">
              <a:lnSpc>
                <a:spcPts val="2900"/>
              </a:lnSpc>
              <a:buNone/>
              <a:defRPr sz="28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Untertitel des Kapitels  bearbeiten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450C514-37F6-908E-490C-63EB35F46A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99" y="295200"/>
            <a:ext cx="684000" cy="249280"/>
          </a:xfrm>
          <a:prstGeom prst="rect">
            <a:avLst/>
          </a:prstGeom>
        </p:spPr>
      </p:pic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1E4B733B-1F6B-8A69-7F81-CFC2D40BAFF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www.th-nuernberg.de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936CA629-3B13-A412-E161-464798FF03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3FEB9C3-1FF9-4F1A-B0DB-7E320F93F669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54898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Kapitelfolie rot (mit Untertitel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2ABEB4-2C14-6FDA-C403-054743E55D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065592"/>
            <a:ext cx="10515600" cy="1500187"/>
          </a:xfrm>
        </p:spPr>
        <p:txBody>
          <a:bodyPr anchor="b"/>
          <a:lstStyle>
            <a:lvl1pPr algn="ctr">
              <a:lnSpc>
                <a:spcPts val="55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des Kapitels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A5DBA6-B732-E2DA-F1F0-78337924C86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022535"/>
            <a:ext cx="10515600" cy="750633"/>
          </a:xfrm>
        </p:spPr>
        <p:txBody>
          <a:bodyPr>
            <a:noAutofit/>
          </a:bodyPr>
          <a:lstStyle>
            <a:lvl1pPr marL="0" indent="0" algn="ctr">
              <a:lnSpc>
                <a:spcPts val="2900"/>
              </a:lnSpc>
              <a:buNone/>
              <a:defRPr sz="28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Untertitel des Kapitels  bearbeiten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450C514-37F6-908E-490C-63EB35F46A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99" y="295200"/>
            <a:ext cx="684000" cy="249280"/>
          </a:xfrm>
          <a:prstGeom prst="rect">
            <a:avLst/>
          </a:prstGeom>
        </p:spPr>
      </p:pic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1E4B733B-1F6B-8A69-7F81-CFC2D40BAFF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www.th-nuernberg.de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936CA629-3B13-A412-E161-464798FF03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3FEB9C3-1FF9-4F1A-B0DB-7E320F93F669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55315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Kapitelfolie hell (mit Untertite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2ABEB4-2C14-6FDA-C403-054743E55D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065592"/>
            <a:ext cx="10515600" cy="1500187"/>
          </a:xfrm>
        </p:spPr>
        <p:txBody>
          <a:bodyPr anchor="b"/>
          <a:lstStyle>
            <a:lvl1pPr algn="ctr">
              <a:lnSpc>
                <a:spcPts val="5500"/>
              </a:lnSpc>
              <a:defRPr sz="5400"/>
            </a:lvl1pPr>
          </a:lstStyle>
          <a:p>
            <a:r>
              <a:rPr lang="de-DE" dirty="0"/>
              <a:t>Titel des Kapitels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A5DBA6-B732-E2DA-F1F0-78337924C86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022535"/>
            <a:ext cx="10515600" cy="750633"/>
          </a:xfrm>
        </p:spPr>
        <p:txBody>
          <a:bodyPr>
            <a:noAutofit/>
          </a:bodyPr>
          <a:lstStyle>
            <a:lvl1pPr marL="0" indent="0" algn="ctr">
              <a:lnSpc>
                <a:spcPts val="2900"/>
              </a:lnSpc>
              <a:buNone/>
              <a:defRPr sz="2800" b="1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Untertitel des Kapitels  bearbeiten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0E719CB-ABD2-604E-E2C1-FE33369B23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99" y="295200"/>
            <a:ext cx="684000" cy="249280"/>
          </a:xfrm>
          <a:prstGeom prst="rect">
            <a:avLst/>
          </a:prstGeom>
        </p:spPr>
      </p:pic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DD4D102-E57D-60D1-A9BA-C5ADD9B548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www.th-nuernberg.de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C1F6E8-65B4-E85A-A4E6-9DACEC5E09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64340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folie rot (ohne Untertite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2ABEB4-2C14-6FDA-C403-054743E55D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866869"/>
            <a:ext cx="10515600" cy="1500187"/>
          </a:xfrm>
        </p:spPr>
        <p:txBody>
          <a:bodyPr anchor="ctr"/>
          <a:lstStyle>
            <a:lvl1pPr algn="ctr">
              <a:lnSpc>
                <a:spcPts val="5500"/>
              </a:lnSpc>
              <a:defRPr sz="5400"/>
            </a:lvl1pPr>
          </a:lstStyle>
          <a:p>
            <a:r>
              <a:rPr lang="de-DE" dirty="0"/>
              <a:t>Titel des Kapitels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F5CA9B2D-E479-95B4-D25C-CA3ABB0A27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99" y="295200"/>
            <a:ext cx="684000" cy="249280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A6A4EB1-9AA0-00D1-1FED-C3451A4938F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www.th-nuernberg.de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81890F5-472F-80A0-C435-498C3E6B55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87129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folie dunkelblau (ohne Untertite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2ABEB4-2C14-6FDA-C403-054743E55D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866869"/>
            <a:ext cx="10515600" cy="1500187"/>
          </a:xfrm>
        </p:spPr>
        <p:txBody>
          <a:bodyPr anchor="ctr"/>
          <a:lstStyle>
            <a:lvl1pPr algn="ctr">
              <a:lnSpc>
                <a:spcPts val="55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Titel des Kapitels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FE1BC914-CDBC-77D0-6C50-7F61587F81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99" y="295200"/>
            <a:ext cx="684000" cy="249280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A535B0C-77A0-A23C-9818-775BB07257F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www.th-nuernberg.de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A2E3220-4ED8-2AE5-69C0-549564114E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3FEB9C3-1FF9-4F1A-B0DB-7E320F93F669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82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5B3A3DD-45D3-BB9D-57A8-4E9C7305C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080000"/>
            <a:ext cx="11471638" cy="529343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EDF2570-7093-AD0C-58B6-51EEC4138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2556001"/>
            <a:ext cx="11471638" cy="368020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5"/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2686EB5-9EEF-674F-CC1D-C34F9EACDA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9999" y="6379481"/>
            <a:ext cx="9000000" cy="13646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>
              <a:defRPr sz="900">
                <a:solidFill>
                  <a:schemeClr val="accent1"/>
                </a:solidFill>
                <a:latin typeface="Public Sans Medium" pitchFamily="2" charset="0"/>
              </a:defRPr>
            </a:lvl1pPr>
          </a:lstStyle>
          <a:p>
            <a:r>
              <a:rPr lang="de-DE"/>
              <a:t>www.th-nuernberg.de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8FBEA15-929E-1D16-8C64-5FDA6815AD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3396" y="6379481"/>
            <a:ext cx="688241" cy="14047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900">
                <a:solidFill>
                  <a:schemeClr val="accent1"/>
                </a:solidFill>
                <a:latin typeface="Public Sans Medium" pitchFamily="2" charset="0"/>
              </a:defRPr>
            </a:lvl1pPr>
          </a:lstStyle>
          <a:p>
            <a:fld id="{13FEB9C3-1FF9-4F1A-B0DB-7E320F93F669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2181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50" r:id="rId4"/>
    <p:sldLayoutId id="2147483659" r:id="rId5"/>
    <p:sldLayoutId id="2147483658" r:id="rId6"/>
    <p:sldLayoutId id="2147483660" r:id="rId7"/>
    <p:sldLayoutId id="2147483662" r:id="rId8"/>
    <p:sldLayoutId id="2147483672" r:id="rId9"/>
    <p:sldLayoutId id="2147483673" r:id="rId10"/>
    <p:sldLayoutId id="2147483664" r:id="rId11"/>
    <p:sldLayoutId id="2147483671" r:id="rId12"/>
    <p:sldLayoutId id="2147483651" r:id="rId13"/>
    <p:sldLayoutId id="2147483665" r:id="rId14"/>
    <p:sldLayoutId id="2147483666" r:id="rId15"/>
  </p:sldLayoutIdLst>
  <p:hf hdr="0" dt="0"/>
  <p:txStyles>
    <p:titleStyle>
      <a:lvl1pPr algn="l" defTabSz="914400" rtl="0" eaLnBrk="1" latinLnBrk="0" hangingPunct="1">
        <a:lnSpc>
          <a:spcPts val="4300"/>
        </a:lnSpc>
        <a:spcBef>
          <a:spcPct val="0"/>
        </a:spcBef>
        <a:buNone/>
        <a:defRPr sz="42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0400" indent="-2304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8000" indent="-2304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98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936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166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1404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1634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26" userDrawn="1">
          <p15:clr>
            <a:srgbClr val="F26B43"/>
          </p15:clr>
        </p15:guide>
        <p15:guide id="4" orient="horz" pos="4105" userDrawn="1">
          <p15:clr>
            <a:srgbClr val="F26B43"/>
          </p15:clr>
        </p15:guide>
        <p15:guide id="5" pos="7453" userDrawn="1">
          <p15:clr>
            <a:srgbClr val="F26B43"/>
          </p15:clr>
        </p15:guide>
        <p15:guide id="6" pos="225" userDrawn="1">
          <p15:clr>
            <a:srgbClr val="F26B43"/>
          </p15:clr>
        </p15:guide>
        <p15:guide id="7" orient="horz" pos="4017" userDrawn="1">
          <p15:clr>
            <a:srgbClr val="F26B43"/>
          </p15:clr>
        </p15:guide>
        <p15:guide id="8" orient="horz" pos="3929" userDrawn="1">
          <p15:clr>
            <a:srgbClr val="F26B43"/>
          </p15:clr>
        </p15:guide>
        <p15:guide id="9" orient="horz" pos="67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EF46B0-7EE0-314A-66B8-AB84BD64A2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188" y="2539683"/>
            <a:ext cx="5995486" cy="1085833"/>
          </a:xfrm>
        </p:spPr>
        <p:txBody>
          <a:bodyPr/>
          <a:lstStyle/>
          <a:p>
            <a:r>
              <a:rPr lang="de-DE" sz="6600" dirty="0"/>
              <a:t>Bachelorseminar</a:t>
            </a:r>
            <a:endParaRPr lang="de-DE" sz="7200"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7BF735F8-FCA8-C3D1-0C18-CFCED134C53B}"/>
              </a:ext>
            </a:extLst>
          </p:cNvPr>
          <p:cNvSpPr txBox="1">
            <a:spLocks/>
          </p:cNvSpPr>
          <p:nvPr/>
        </p:nvSpPr>
        <p:spPr>
          <a:xfrm>
            <a:off x="357188" y="4961021"/>
            <a:ext cx="5995486" cy="725905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ts val="8800"/>
              </a:lnSpc>
              <a:spcBef>
                <a:spcPct val="0"/>
              </a:spcBef>
              <a:buNone/>
              <a:defRPr sz="8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de-DE" sz="2400" b="1" dirty="0"/>
              <a:t>Thema:</a:t>
            </a:r>
            <a:r>
              <a:rPr lang="de-DE" sz="2400" dirty="0"/>
              <a:t> </a:t>
            </a:r>
            <a:r>
              <a:rPr lang="de-DE" sz="2400" dirty="0" err="1"/>
              <a:t>SPICENet</a:t>
            </a:r>
            <a:r>
              <a:rPr lang="de-DE" sz="2400" dirty="0"/>
              <a:t> Integration in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Neuromorphic</a:t>
            </a:r>
            <a:r>
              <a:rPr lang="de-DE" sz="2400" dirty="0"/>
              <a:t> Intermediate </a:t>
            </a:r>
            <a:r>
              <a:rPr lang="de-DE" sz="2400" dirty="0" err="1"/>
              <a:t>Representation</a:t>
            </a:r>
            <a:r>
              <a:rPr lang="de-DE" sz="2400" dirty="0"/>
              <a:t> Framework</a:t>
            </a:r>
          </a:p>
          <a:p>
            <a:pPr>
              <a:lnSpc>
                <a:spcPct val="100000"/>
              </a:lnSpc>
            </a:pPr>
            <a:endParaRPr lang="de-DE" sz="2400" dirty="0"/>
          </a:p>
          <a:p>
            <a:pPr>
              <a:lnSpc>
                <a:spcPct val="100000"/>
              </a:lnSpc>
            </a:pPr>
            <a:r>
              <a:rPr lang="de-DE" sz="2400" b="1" dirty="0"/>
              <a:t>Vortragender: Lutz Mitländer</a:t>
            </a:r>
          </a:p>
          <a:p>
            <a:pPr>
              <a:lnSpc>
                <a:spcPct val="100000"/>
              </a:lnSpc>
            </a:pPr>
            <a:r>
              <a:rPr lang="de-DE" sz="2400" b="1" dirty="0"/>
              <a:t>Betreuer: Prof. Dr. Cristian </a:t>
            </a:r>
            <a:r>
              <a:rPr lang="de-DE" sz="2400" b="1" dirty="0" err="1"/>
              <a:t>Axenie</a:t>
            </a:r>
            <a:endParaRPr lang="de-DE" sz="2800" b="1" dirty="0"/>
          </a:p>
        </p:txBody>
      </p:sp>
    </p:spTree>
    <p:extLst>
      <p:ext uri="{BB962C8B-B14F-4D97-AF65-F5344CB8AC3E}">
        <p14:creationId xmlns:p14="http://schemas.microsoft.com/office/powerpoint/2010/main" val="3137724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9EE8C913-9780-2E15-C41D-688314DDA8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188" y="977857"/>
            <a:ext cx="8456400" cy="1171071"/>
          </a:xfrm>
        </p:spPr>
        <p:txBody>
          <a:bodyPr/>
          <a:lstStyle/>
          <a:p>
            <a:r>
              <a:rPr lang="de-DE" dirty="0"/>
              <a:t>Agenda</a:t>
            </a:r>
          </a:p>
        </p:txBody>
      </p:sp>
      <p:pic>
        <p:nvPicPr>
          <p:cNvPr id="8" name="Grafik 7" descr="Ein Bild, das Text, ClipArt enthält.&#10;&#10;Automatisch generierte Beschreibung">
            <a:extLst>
              <a:ext uri="{FF2B5EF4-FFF2-40B4-BE49-F238E27FC236}">
                <a16:creationId xmlns:a16="http://schemas.microsoft.com/office/drawing/2014/main" id="{4CF58DF2-554F-F3A5-4A77-5B6C5E3A57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88" y="226800"/>
            <a:ext cx="2154940" cy="524257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4482F206-D7F1-173D-F118-964F6F928DB0}"/>
              </a:ext>
            </a:extLst>
          </p:cNvPr>
          <p:cNvSpPr txBox="1"/>
          <p:nvPr/>
        </p:nvSpPr>
        <p:spPr>
          <a:xfrm>
            <a:off x="357188" y="2248930"/>
            <a:ext cx="5057988" cy="40626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 err="1">
                <a:solidFill>
                  <a:schemeClr val="bg1"/>
                </a:solidFill>
              </a:rPr>
              <a:t>Introduction</a:t>
            </a:r>
            <a:endParaRPr lang="de-DE" sz="240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</a:rPr>
              <a:t>Goal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bg1"/>
                </a:solidFill>
              </a:rPr>
              <a:t>Theory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chemeClr val="bg1"/>
                </a:solidFill>
              </a:rPr>
              <a:t>SPICENet</a:t>
            </a:r>
            <a:endParaRPr lang="de-DE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chemeClr val="bg1"/>
                </a:solidFill>
              </a:rPr>
              <a:t>Neuromorphic</a:t>
            </a:r>
            <a:r>
              <a:rPr lang="de-DE" dirty="0">
                <a:solidFill>
                  <a:schemeClr val="bg1"/>
                </a:solidFill>
              </a:rPr>
              <a:t> Intermediate </a:t>
            </a:r>
            <a:r>
              <a:rPr lang="de-DE" dirty="0" err="1">
                <a:solidFill>
                  <a:schemeClr val="bg1"/>
                </a:solidFill>
              </a:rPr>
              <a:t>Representation</a:t>
            </a:r>
            <a:endParaRPr lang="de-DE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chemeClr val="bg1"/>
                </a:solidFill>
              </a:rPr>
              <a:t>Spiking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Neural</a:t>
            </a:r>
            <a:r>
              <a:rPr lang="de-DE" dirty="0">
                <a:solidFill>
                  <a:schemeClr val="bg1"/>
                </a:solidFill>
              </a:rPr>
              <a:t> Networks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 err="1">
                <a:solidFill>
                  <a:schemeClr val="bg1"/>
                </a:solidFill>
              </a:rPr>
              <a:t>Methodology</a:t>
            </a:r>
            <a:r>
              <a:rPr lang="de-DE" sz="2400" dirty="0">
                <a:solidFill>
                  <a:schemeClr val="bg1"/>
                </a:solidFill>
              </a:rPr>
              <a:t> &amp; </a:t>
            </a:r>
            <a:r>
              <a:rPr lang="de-DE" sz="2400" dirty="0" err="1">
                <a:solidFill>
                  <a:schemeClr val="bg1"/>
                </a:solidFill>
              </a:rPr>
              <a:t>Results</a:t>
            </a:r>
            <a:endParaRPr lang="de-DE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</a:rPr>
              <a:t>Original Plan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</a:rPr>
              <a:t>SOM SNN Training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</a:rPr>
              <a:t>NIR Integration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 err="1">
                <a:solidFill>
                  <a:schemeClr val="bg1"/>
                </a:solidFill>
              </a:rPr>
              <a:t>Conclusion</a:t>
            </a:r>
            <a:endParaRPr lang="de-DE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</a:rPr>
              <a:t>Problems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</a:rPr>
              <a:t>Future </a:t>
            </a:r>
            <a:r>
              <a:rPr lang="de-DE" dirty="0" err="1">
                <a:solidFill>
                  <a:schemeClr val="bg1"/>
                </a:solidFill>
              </a:rPr>
              <a:t>Steps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1414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8B9465-85F4-ACB0-BF7B-B4D5A4D2A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Original Goal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EE227E7-C9F1-443F-C0D0-88E82DF5B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de-DE" dirty="0" err="1"/>
              <a:t>Increase</a:t>
            </a:r>
            <a:r>
              <a:rPr lang="de-DE" dirty="0"/>
              <a:t> </a:t>
            </a:r>
            <a:r>
              <a:rPr lang="de-DE" dirty="0" err="1"/>
              <a:t>usage</a:t>
            </a:r>
            <a:r>
              <a:rPr lang="de-DE" dirty="0"/>
              <a:t> </a:t>
            </a:r>
            <a:r>
              <a:rPr lang="de-DE" dirty="0" err="1"/>
              <a:t>fields</a:t>
            </a:r>
            <a:r>
              <a:rPr lang="de-DE" dirty="0"/>
              <a:t> (</a:t>
            </a:r>
            <a:r>
              <a:rPr lang="de-DE" dirty="0" err="1"/>
              <a:t>platforms</a:t>
            </a:r>
            <a:r>
              <a:rPr lang="de-DE" dirty="0"/>
              <a:t>)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SPICEnet</a:t>
            </a:r>
            <a:endParaRPr lang="de-DE" dirty="0"/>
          </a:p>
          <a:p>
            <a:pPr>
              <a:lnSpc>
                <a:spcPct val="150000"/>
              </a:lnSpc>
            </a:pPr>
            <a:r>
              <a:rPr lang="de-DE" b="1" dirty="0"/>
              <a:t>Integration </a:t>
            </a:r>
            <a:r>
              <a:rPr lang="de-DE" b="1" dirty="0" err="1"/>
              <a:t>into</a:t>
            </a:r>
            <a:r>
              <a:rPr lang="de-DE" b="1" dirty="0"/>
              <a:t> NIR</a:t>
            </a:r>
          </a:p>
          <a:p>
            <a:pPr lvl="2">
              <a:lnSpc>
                <a:spcPct val="150000"/>
              </a:lnSpc>
            </a:pPr>
            <a:r>
              <a:rPr lang="de-DE" dirty="0" err="1"/>
              <a:t>Simplifying</a:t>
            </a:r>
            <a:r>
              <a:rPr lang="de-DE" dirty="0"/>
              <a:t> </a:t>
            </a:r>
            <a:r>
              <a:rPr lang="de-DE" dirty="0" err="1"/>
              <a:t>transfer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SPICEnet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</a:t>
            </a:r>
            <a:r>
              <a:rPr lang="de-DE" dirty="0" err="1"/>
              <a:t>Neuromorphic</a:t>
            </a:r>
            <a:r>
              <a:rPr lang="de-DE" dirty="0"/>
              <a:t> </a:t>
            </a:r>
            <a:r>
              <a:rPr lang="de-DE" dirty="0" err="1"/>
              <a:t>Platforms</a:t>
            </a:r>
            <a:endParaRPr lang="de-DE" dirty="0"/>
          </a:p>
          <a:p>
            <a:pPr lvl="2">
              <a:lnSpc>
                <a:spcPct val="150000"/>
              </a:lnSpc>
            </a:pPr>
            <a:r>
              <a:rPr lang="de-DE" dirty="0" err="1"/>
              <a:t>Evaluating</a:t>
            </a:r>
            <a:r>
              <a:rPr lang="de-DE" dirty="0"/>
              <a:t> </a:t>
            </a:r>
            <a:r>
              <a:rPr lang="de-DE" dirty="0" err="1"/>
              <a:t>SPICEnet</a:t>
            </a:r>
            <a:r>
              <a:rPr lang="de-DE" dirty="0"/>
              <a:t> on </a:t>
            </a:r>
            <a:r>
              <a:rPr lang="de-DE" dirty="0" err="1"/>
              <a:t>Neuromorphic</a:t>
            </a:r>
            <a:r>
              <a:rPr lang="de-DE" dirty="0"/>
              <a:t> </a:t>
            </a:r>
            <a:r>
              <a:rPr lang="de-DE" dirty="0" err="1"/>
              <a:t>Platforms</a:t>
            </a:r>
            <a:endParaRPr lang="de-DE" dirty="0"/>
          </a:p>
          <a:p>
            <a:pPr>
              <a:lnSpc>
                <a:spcPct val="150000"/>
              </a:lnSpc>
            </a:pPr>
            <a:r>
              <a:rPr lang="de-DE" dirty="0" err="1"/>
              <a:t>Releasing</a:t>
            </a:r>
            <a:r>
              <a:rPr lang="de-DE" dirty="0"/>
              <a:t> an open code </a:t>
            </a:r>
            <a:r>
              <a:rPr lang="de-DE" dirty="0" err="1"/>
              <a:t>repository</a:t>
            </a: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69E5B7A-3A85-4AB8-1DF2-3139236D6A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 err="1"/>
              <a:t>Integrating</a:t>
            </a:r>
            <a:r>
              <a:rPr lang="de-DE" dirty="0"/>
              <a:t> </a:t>
            </a:r>
            <a:r>
              <a:rPr lang="de-DE" dirty="0" err="1"/>
              <a:t>SPICEnet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NIR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0A21E51-6B39-7CF4-0AEB-80D314EDEBE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59999" y="6379481"/>
            <a:ext cx="9000000" cy="136460"/>
          </a:xfrm>
        </p:spPr>
        <p:txBody>
          <a:bodyPr/>
          <a:lstStyle/>
          <a:p>
            <a:r>
              <a:rPr lang="de-DE" dirty="0"/>
              <a:t>www.th-nuernberg.de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5F9A502-4A24-D037-2D86-B00DEFFDF61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5713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B26702-FD1D-E031-C707-B5BBDFF02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SPICEnet</a:t>
            </a:r>
            <a:r>
              <a:rPr lang="de-DE" dirty="0"/>
              <a:t> - General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C208E9E-D44A-BDB4-40E3-A240283C7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de-DE" dirty="0" err="1"/>
              <a:t>Finds</a:t>
            </a:r>
            <a:r>
              <a:rPr lang="de-DE" dirty="0"/>
              <a:t> </a:t>
            </a:r>
            <a:r>
              <a:rPr lang="de-DE" dirty="0" err="1"/>
              <a:t>mathematical</a:t>
            </a:r>
            <a:r>
              <a:rPr lang="de-DE" dirty="0"/>
              <a:t> </a:t>
            </a:r>
            <a:r>
              <a:rPr lang="de-DE" dirty="0" err="1"/>
              <a:t>relation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time </a:t>
            </a:r>
            <a:r>
              <a:rPr lang="de-DE" dirty="0" err="1"/>
              <a:t>series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</a:t>
            </a:r>
          </a:p>
          <a:p>
            <a:pPr lvl="2">
              <a:lnSpc>
                <a:spcPct val="150000"/>
              </a:lnSpc>
            </a:pPr>
            <a:r>
              <a:rPr lang="de-DE" dirty="0" err="1"/>
              <a:t>Utilizing</a:t>
            </a:r>
            <a:r>
              <a:rPr lang="de-DE" dirty="0"/>
              <a:t> </a:t>
            </a:r>
            <a:r>
              <a:rPr lang="de-DE" dirty="0" err="1"/>
              <a:t>tweaked</a:t>
            </a:r>
            <a:r>
              <a:rPr lang="de-DE" dirty="0"/>
              <a:t> Self-</a:t>
            </a:r>
            <a:r>
              <a:rPr lang="de-DE" dirty="0" err="1"/>
              <a:t>Organizing</a:t>
            </a:r>
            <a:r>
              <a:rPr lang="de-DE" dirty="0"/>
              <a:t> Maps (</a:t>
            </a:r>
            <a:r>
              <a:rPr lang="de-DE" dirty="0" err="1"/>
              <a:t>competition</a:t>
            </a:r>
            <a:r>
              <a:rPr lang="de-DE" dirty="0"/>
              <a:t>)</a:t>
            </a:r>
          </a:p>
          <a:p>
            <a:pPr lvl="2">
              <a:lnSpc>
                <a:spcPct val="150000"/>
              </a:lnSpc>
            </a:pPr>
            <a:r>
              <a:rPr lang="de-DE" dirty="0" err="1"/>
              <a:t>Hebbian</a:t>
            </a:r>
            <a:r>
              <a:rPr lang="de-DE" dirty="0"/>
              <a:t> </a:t>
            </a:r>
            <a:r>
              <a:rPr lang="de-DE" dirty="0" err="1"/>
              <a:t>learning</a:t>
            </a:r>
            <a:r>
              <a:rPr lang="de-DE" dirty="0"/>
              <a:t> </a:t>
            </a:r>
            <a:r>
              <a:rPr lang="de-DE" dirty="0" err="1"/>
              <a:t>based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SOM </a:t>
            </a:r>
            <a:r>
              <a:rPr lang="de-DE" dirty="0" err="1"/>
              <a:t>results</a:t>
            </a:r>
            <a:r>
              <a:rPr lang="de-DE" dirty="0"/>
              <a:t> (</a:t>
            </a:r>
            <a:r>
              <a:rPr lang="de-DE" dirty="0" err="1"/>
              <a:t>cooperation</a:t>
            </a:r>
            <a:r>
              <a:rPr lang="de-DE" dirty="0"/>
              <a:t>)</a:t>
            </a:r>
          </a:p>
          <a:p>
            <a:pPr lvl="2">
              <a:lnSpc>
                <a:spcPct val="150000"/>
              </a:lnSpc>
            </a:pPr>
            <a:r>
              <a:rPr lang="de-DE" dirty="0"/>
              <a:t>And </a:t>
            </a:r>
            <a:r>
              <a:rPr lang="de-DE" dirty="0" err="1"/>
              <a:t>adapting</a:t>
            </a:r>
            <a:r>
              <a:rPr lang="de-DE" dirty="0"/>
              <a:t> </a:t>
            </a:r>
            <a:r>
              <a:rPr lang="de-DE" dirty="0" err="1"/>
              <a:t>weights</a:t>
            </a:r>
            <a:r>
              <a:rPr lang="de-DE" dirty="0"/>
              <a:t> </a:t>
            </a:r>
            <a:r>
              <a:rPr lang="de-DE" dirty="0" err="1"/>
              <a:t>based</a:t>
            </a:r>
            <a:r>
              <a:rPr lang="de-DE" dirty="0"/>
              <a:t> on </a:t>
            </a:r>
            <a:r>
              <a:rPr lang="de-DE" dirty="0" err="1"/>
              <a:t>results</a:t>
            </a:r>
            <a:endParaRPr lang="de-DE" dirty="0"/>
          </a:p>
          <a:p>
            <a:pPr>
              <a:lnSpc>
                <a:spcPct val="150000"/>
              </a:lnSpc>
            </a:pPr>
            <a:r>
              <a:rPr lang="de-DE" dirty="0" err="1"/>
              <a:t>Existing</a:t>
            </a:r>
            <a:r>
              <a:rPr lang="de-DE" dirty="0"/>
              <a:t> </a:t>
            </a:r>
            <a:r>
              <a:rPr lang="de-DE" dirty="0" err="1"/>
              <a:t>python</a:t>
            </a:r>
            <a:r>
              <a:rPr lang="de-DE" dirty="0"/>
              <a:t> </a:t>
            </a:r>
            <a:r>
              <a:rPr lang="de-DE" dirty="0" err="1"/>
              <a:t>package</a:t>
            </a:r>
            <a:endParaRPr lang="de-DE" dirty="0"/>
          </a:p>
          <a:p>
            <a:pPr>
              <a:lnSpc>
                <a:spcPct val="150000"/>
              </a:lnSpc>
            </a:pPr>
            <a:r>
              <a:rPr lang="de-DE" dirty="0" err="1"/>
              <a:t>Existing</a:t>
            </a:r>
            <a:r>
              <a:rPr lang="de-DE" dirty="0"/>
              <a:t> SNN </a:t>
            </a:r>
            <a:r>
              <a:rPr lang="de-DE" dirty="0" err="1"/>
              <a:t>version</a:t>
            </a:r>
            <a:endParaRPr lang="de-DE" dirty="0"/>
          </a:p>
          <a:p>
            <a:pPr>
              <a:lnSpc>
                <a:spcPct val="150000"/>
              </a:lnSpc>
            </a:pPr>
            <a:r>
              <a:rPr lang="de-DE" dirty="0" err="1"/>
              <a:t>Uses</a:t>
            </a:r>
            <a:r>
              <a:rPr lang="de-DE" dirty="0"/>
              <a:t> in: Relation </a:t>
            </a:r>
            <a:r>
              <a:rPr lang="de-DE" dirty="0" err="1"/>
              <a:t>Finding</a:t>
            </a:r>
            <a:r>
              <a:rPr lang="de-DE" dirty="0"/>
              <a:t>, Control, Value Interpolation, etc.</a:t>
            </a:r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  <a:p>
            <a:endParaRPr lang="de-DE" dirty="0"/>
          </a:p>
          <a:p>
            <a:pPr lvl="1"/>
            <a:endParaRPr lang="de-DE" dirty="0"/>
          </a:p>
          <a:p>
            <a:pPr lvl="2"/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F486D8B-95EA-1F19-12B3-B940A25FA83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www.th-nuernberg.de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2D5E9EF-8E14-C2D0-E2F7-313A0B0DA1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4</a:t>
            </a:fld>
            <a:endParaRPr lang="de-DE"/>
          </a:p>
        </p:txBody>
      </p:sp>
      <p:pic>
        <p:nvPicPr>
          <p:cNvPr id="7" name="Picture 6" descr="A diagram of a diagram of a diagram&#10;&#10;Description automatically generated">
            <a:extLst>
              <a:ext uri="{FF2B5EF4-FFF2-40B4-BE49-F238E27FC236}">
                <a16:creationId xmlns:a16="http://schemas.microsoft.com/office/drawing/2014/main" id="{51D82C65-81A1-EBCD-AE18-DCAFA614FE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5003" y="1797050"/>
            <a:ext cx="3946634" cy="11992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8E58BB-01E6-2B4D-4A19-8DAE3D0D1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791" y="3429000"/>
            <a:ext cx="3562846" cy="292934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FAE3917-2C52-CD30-EC2F-9F660E55C8DD}"/>
              </a:ext>
            </a:extLst>
          </p:cNvPr>
          <p:cNvSpPr/>
          <p:nvPr/>
        </p:nvSpPr>
        <p:spPr>
          <a:xfrm>
            <a:off x="9737678" y="3534770"/>
            <a:ext cx="1992573" cy="18424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2087975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B2E0F-737C-841B-1597-11CF1A926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20B8E2-33BC-AF78-F1BB-3331857AC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Spiking</a:t>
            </a:r>
            <a:r>
              <a:rPr lang="de-DE" dirty="0"/>
              <a:t> </a:t>
            </a:r>
            <a:r>
              <a:rPr lang="de-DE" dirty="0" err="1"/>
              <a:t>Neural</a:t>
            </a:r>
            <a:r>
              <a:rPr lang="de-DE" dirty="0"/>
              <a:t> Networks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09BC4B-F602-EE76-3024-45C190840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de-DE" dirty="0" err="1"/>
              <a:t>Biology</a:t>
            </a:r>
            <a:r>
              <a:rPr lang="de-DE" dirty="0"/>
              <a:t> </a:t>
            </a:r>
            <a:r>
              <a:rPr lang="de-DE" dirty="0" err="1"/>
              <a:t>works</a:t>
            </a:r>
            <a:r>
              <a:rPr lang="de-DE" dirty="0"/>
              <a:t> on </a:t>
            </a:r>
            <a:r>
              <a:rPr lang="de-DE" dirty="0" err="1"/>
              <a:t>electricity</a:t>
            </a:r>
            <a:r>
              <a:rPr lang="de-DE" dirty="0"/>
              <a:t>, not 0 and 1</a:t>
            </a:r>
          </a:p>
          <a:p>
            <a:pPr>
              <a:lnSpc>
                <a:spcPct val="150000"/>
              </a:lnSpc>
            </a:pPr>
            <a:r>
              <a:rPr lang="de-DE" dirty="0" err="1"/>
              <a:t>Electrical</a:t>
            </a:r>
            <a:r>
              <a:rPr lang="de-DE" dirty="0"/>
              <a:t> Signals </a:t>
            </a:r>
            <a:r>
              <a:rPr lang="de-DE" dirty="0" err="1"/>
              <a:t>increase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decrease</a:t>
            </a:r>
            <a:r>
              <a:rPr lang="de-DE" dirty="0"/>
              <a:t> a </a:t>
            </a:r>
            <a:r>
              <a:rPr lang="de-DE" dirty="0" err="1"/>
              <a:t>charge</a:t>
            </a:r>
            <a:r>
              <a:rPr lang="de-DE" dirty="0"/>
              <a:t> (</a:t>
            </a:r>
            <a:r>
              <a:rPr lang="de-DE" b="1" dirty="0"/>
              <a:t>Membrane Potential</a:t>
            </a:r>
            <a:r>
              <a:rPr lang="de-DE" dirty="0"/>
              <a:t>)</a:t>
            </a:r>
          </a:p>
          <a:p>
            <a:pPr>
              <a:lnSpc>
                <a:spcPct val="150000"/>
              </a:lnSpc>
            </a:pPr>
            <a:r>
              <a:rPr lang="de-DE" dirty="0"/>
              <a:t>On </a:t>
            </a:r>
            <a:r>
              <a:rPr lang="de-DE" dirty="0" err="1"/>
              <a:t>reaching</a:t>
            </a:r>
            <a:r>
              <a:rPr lang="de-DE" dirty="0"/>
              <a:t> a </a:t>
            </a:r>
            <a:r>
              <a:rPr lang="de-DE" dirty="0" err="1"/>
              <a:t>charge</a:t>
            </a:r>
            <a:r>
              <a:rPr lang="de-DE" dirty="0"/>
              <a:t> </a:t>
            </a:r>
            <a:r>
              <a:rPr lang="de-DE" dirty="0" err="1"/>
              <a:t>threshold</a:t>
            </a:r>
            <a:r>
              <a:rPr lang="de-DE" dirty="0"/>
              <a:t> an Event (</a:t>
            </a:r>
            <a:r>
              <a:rPr lang="de-DE" b="1" dirty="0"/>
              <a:t>Spike</a:t>
            </a:r>
            <a:r>
              <a:rPr lang="de-DE" dirty="0"/>
              <a:t>/</a:t>
            </a:r>
            <a:r>
              <a:rPr lang="de-DE" b="1" dirty="0"/>
              <a:t>Action Potential</a:t>
            </a:r>
            <a:r>
              <a:rPr lang="de-DE" dirty="0"/>
              <a:t>)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created</a:t>
            </a:r>
            <a:endParaRPr lang="de-DE" dirty="0"/>
          </a:p>
          <a:p>
            <a:pPr lvl="2">
              <a:lnSpc>
                <a:spcPct val="150000"/>
              </a:lnSpc>
            </a:pPr>
            <a:r>
              <a:rPr lang="de-DE" dirty="0" err="1"/>
              <a:t>Sparse</a:t>
            </a:r>
            <a:r>
              <a:rPr lang="de-DE" dirty="0"/>
              <a:t> </a:t>
            </a:r>
            <a:r>
              <a:rPr lang="de-DE" dirty="0" err="1"/>
              <a:t>events</a:t>
            </a:r>
            <a:r>
              <a:rPr lang="de-DE" dirty="0"/>
              <a:t> = Energy </a:t>
            </a:r>
            <a:r>
              <a:rPr lang="de-DE" dirty="0" err="1"/>
              <a:t>Savings</a:t>
            </a:r>
            <a:endParaRPr lang="de-DE" dirty="0"/>
          </a:p>
          <a:p>
            <a:pPr>
              <a:lnSpc>
                <a:spcPct val="150000"/>
              </a:lnSpc>
            </a:pPr>
            <a:r>
              <a:rPr lang="de-DE" dirty="0" err="1"/>
              <a:t>Efficient</a:t>
            </a:r>
            <a:r>
              <a:rPr lang="de-DE" dirty="0"/>
              <a:t> </a:t>
            </a:r>
            <a:r>
              <a:rPr lang="de-DE" dirty="0" err="1"/>
              <a:t>hardware</a:t>
            </a:r>
            <a:r>
              <a:rPr lang="de-DE" dirty="0"/>
              <a:t> </a:t>
            </a:r>
            <a:r>
              <a:rPr lang="de-DE" dirty="0" err="1"/>
              <a:t>implementation</a:t>
            </a:r>
            <a:r>
              <a:rPr lang="de-DE" dirty="0"/>
              <a:t> possible</a:t>
            </a:r>
          </a:p>
          <a:p>
            <a:pPr>
              <a:lnSpc>
                <a:spcPct val="150000"/>
              </a:lnSpc>
            </a:pP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CD14FA0-0D22-417C-B4C0-76789EA6A3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 err="1"/>
              <a:t>Biologically</a:t>
            </a:r>
            <a:r>
              <a:rPr lang="de-DE" dirty="0"/>
              <a:t> </a:t>
            </a:r>
            <a:r>
              <a:rPr lang="de-DE" dirty="0" err="1"/>
              <a:t>Inspired</a:t>
            </a:r>
            <a:r>
              <a:rPr lang="de-DE" dirty="0"/>
              <a:t> </a:t>
            </a:r>
            <a:r>
              <a:rPr lang="de-DE" dirty="0" err="1"/>
              <a:t>Neural</a:t>
            </a:r>
            <a:r>
              <a:rPr lang="de-DE" dirty="0"/>
              <a:t> Networks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C193105-CAF3-A835-4BC4-D997C25030C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59999" y="6379481"/>
            <a:ext cx="9000000" cy="136460"/>
          </a:xfrm>
        </p:spPr>
        <p:txBody>
          <a:bodyPr/>
          <a:lstStyle/>
          <a:p>
            <a:r>
              <a:rPr lang="de-DE" dirty="0"/>
              <a:t>www.th-nuernberg.de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AA7D10D-2722-F59A-5809-B3312FC0DC2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5</a:t>
            </a:fld>
            <a:endParaRPr lang="de-D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2D7065-41F8-2EE0-BA4C-EFA21EE55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132" y="727551"/>
            <a:ext cx="2518979" cy="2450898"/>
          </a:xfrm>
          <a:prstGeom prst="rect">
            <a:avLst/>
          </a:prstGeom>
        </p:spPr>
      </p:pic>
      <p:pic>
        <p:nvPicPr>
          <p:cNvPr id="8" name="Picture 7" descr="A diagram of a circuit&#10;&#10;Description automatically generated">
            <a:extLst>
              <a:ext uri="{FF2B5EF4-FFF2-40B4-BE49-F238E27FC236}">
                <a16:creationId xmlns:a16="http://schemas.microsoft.com/office/drawing/2014/main" id="{818C614C-FAEE-06D4-5477-3956810190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5179" y="4753829"/>
            <a:ext cx="2948217" cy="162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519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A5C53-6F50-A1E9-057D-944273B67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206B879-BF69-16A3-F032-EE9084EEE3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1B7E156-CDB3-715E-0664-22A9DE2CF7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SNN – Biological </a:t>
            </a:r>
            <a:r>
              <a:rPr lang="de-DE" dirty="0" err="1"/>
              <a:t>Neural</a:t>
            </a:r>
            <a:r>
              <a:rPr lang="de-DE" dirty="0"/>
              <a:t> </a:t>
            </a:r>
            <a:r>
              <a:rPr lang="de-DE" dirty="0" err="1"/>
              <a:t>Comparision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FDFEAB1-731E-ABFA-4B24-A5EFAE679AA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www.th-nuernberg.de</a:t>
            </a:r>
            <a:endParaRPr lang="de-DE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4A9CD91-75A8-3E21-BB5B-F128F37538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892774"/>
            <a:ext cx="6272481" cy="3484713"/>
          </a:xfrm>
          <a:prstGeom prst="rect">
            <a:avLst/>
          </a:prstGeom>
        </p:spPr>
      </p:pic>
      <p:pic>
        <p:nvPicPr>
          <p:cNvPr id="1030" name="Picture 6" descr="The Concept of Artificial Neurons (Perceptrons) in Neural Networks | by  Rukshan Pramoditha | Towards Data Science">
            <a:extLst>
              <a:ext uri="{FF2B5EF4-FFF2-40B4-BE49-F238E27FC236}">
                <a16:creationId xmlns:a16="http://schemas.microsoft.com/office/drawing/2014/main" id="{E1F31716-91C1-E238-6E14-B663E811F5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30"/>
          <a:stretch/>
        </p:blipFill>
        <p:spPr bwMode="auto">
          <a:xfrm>
            <a:off x="6339487" y="1951305"/>
            <a:ext cx="4015264" cy="336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4800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25F49-EF0D-15EC-94B9-739ACBFBA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AE51C730-ACC1-9348-FB55-ACAB958802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7</a:t>
            </a:fld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0691F8C-833D-7DCB-85E0-EE288561FED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SNN – LIF </a:t>
            </a:r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Example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3F52877-83D4-D5B6-9434-69209FED2EC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www.th-nuernberg.de</a:t>
            </a:r>
            <a:endParaRPr lang="de-DE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1FD8DF47-A93B-62CF-6FAB-4C0C915E1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0911" y="1386056"/>
            <a:ext cx="8770177" cy="4662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7449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52160-5625-6DBE-5854-F2D0A763E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23F829-6DD4-9E85-2709-641C4337F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NIR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EDE44D-7E28-D755-DBF6-CA377A027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de-DE" dirty="0"/>
              <a:t>Exchange Format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Spiking</a:t>
            </a:r>
            <a:r>
              <a:rPr lang="de-DE" dirty="0"/>
              <a:t> </a:t>
            </a:r>
            <a:r>
              <a:rPr lang="de-DE" dirty="0" err="1"/>
              <a:t>Neural</a:t>
            </a:r>
            <a:r>
              <a:rPr lang="de-DE" dirty="0"/>
              <a:t> Networks</a:t>
            </a:r>
          </a:p>
          <a:p>
            <a:pPr lvl="2">
              <a:lnSpc>
                <a:spcPct val="150000"/>
              </a:lnSpc>
            </a:pPr>
            <a:r>
              <a:rPr lang="de-DE" dirty="0" err="1"/>
              <a:t>Based</a:t>
            </a:r>
            <a:r>
              <a:rPr lang="de-DE" dirty="0"/>
              <a:t> on </a:t>
            </a:r>
            <a:r>
              <a:rPr lang="de-DE" dirty="0" err="1"/>
              <a:t>standardized</a:t>
            </a:r>
            <a:r>
              <a:rPr lang="de-DE" dirty="0"/>
              <a:t> „</a:t>
            </a:r>
            <a:r>
              <a:rPr lang="de-DE" b="1" dirty="0"/>
              <a:t>Primitives</a:t>
            </a:r>
            <a:r>
              <a:rPr lang="de-DE" dirty="0"/>
              <a:t>“</a:t>
            </a:r>
          </a:p>
          <a:p>
            <a:pPr lvl="2">
              <a:lnSpc>
                <a:spcPct val="150000"/>
              </a:lnSpc>
            </a:pPr>
            <a:r>
              <a:rPr lang="de-DE" dirty="0"/>
              <a:t>And non-</a:t>
            </a:r>
            <a:r>
              <a:rPr lang="de-DE" dirty="0" err="1"/>
              <a:t>weighted</a:t>
            </a:r>
            <a:r>
              <a:rPr lang="de-DE" dirty="0"/>
              <a:t> </a:t>
            </a:r>
            <a:r>
              <a:rPr lang="de-DE" b="1" dirty="0" err="1"/>
              <a:t>Edges</a:t>
            </a:r>
            <a:endParaRPr lang="de-DE" b="1" dirty="0"/>
          </a:p>
          <a:p>
            <a:pPr>
              <a:lnSpc>
                <a:spcPct val="150000"/>
              </a:lnSpc>
            </a:pPr>
            <a:r>
              <a:rPr lang="de-DE" dirty="0"/>
              <a:t>Support </a:t>
            </a:r>
            <a:r>
              <a:rPr lang="de-DE" dirty="0" err="1"/>
              <a:t>for</a:t>
            </a:r>
            <a:r>
              <a:rPr lang="de-DE" dirty="0"/>
              <a:t> 8 </a:t>
            </a:r>
            <a:r>
              <a:rPr lang="de-DE" dirty="0" err="1"/>
              <a:t>Neuromorphic</a:t>
            </a:r>
            <a:r>
              <a:rPr lang="de-DE" dirty="0"/>
              <a:t> SNN Frameworks</a:t>
            </a:r>
          </a:p>
          <a:p>
            <a:pPr lvl="2">
              <a:lnSpc>
                <a:spcPct val="150000"/>
              </a:lnSpc>
            </a:pPr>
            <a:r>
              <a:rPr lang="de-DE" dirty="0"/>
              <a:t>Hardware and Software Simulation </a:t>
            </a:r>
            <a:r>
              <a:rPr lang="de-DE" dirty="0" err="1"/>
              <a:t>Platforms</a:t>
            </a:r>
            <a:endParaRPr lang="de-DE" dirty="0"/>
          </a:p>
          <a:p>
            <a:pPr>
              <a:lnSpc>
                <a:spcPct val="150000"/>
              </a:lnSpc>
            </a:pPr>
            <a:r>
              <a:rPr lang="de-DE" dirty="0" err="1"/>
              <a:t>Decouples</a:t>
            </a:r>
            <a:r>
              <a:rPr lang="de-DE" dirty="0"/>
              <a:t> Network Architecture </a:t>
            </a:r>
            <a:r>
              <a:rPr lang="de-DE" dirty="0" err="1"/>
              <a:t>from</a:t>
            </a:r>
            <a:r>
              <a:rPr lang="de-DE" dirty="0"/>
              <a:t> Framework</a:t>
            </a:r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C0E3CC7-8B7A-CDE4-67E6-F830324A60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 err="1"/>
              <a:t>Neuromorphic</a:t>
            </a:r>
            <a:r>
              <a:rPr lang="de-DE" dirty="0"/>
              <a:t> Intermediate </a:t>
            </a:r>
            <a:r>
              <a:rPr lang="de-DE" dirty="0" err="1"/>
              <a:t>Representation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D48B7D8-A424-12B7-AE54-3605F9224B7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59999" y="6379481"/>
            <a:ext cx="9000000" cy="136460"/>
          </a:xfrm>
        </p:spPr>
        <p:txBody>
          <a:bodyPr/>
          <a:lstStyle/>
          <a:p>
            <a:r>
              <a:rPr lang="de-DE" dirty="0"/>
              <a:t>www.th-nuernberg.de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B883848-D30E-658F-1D87-9E8F92A9347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8</a:t>
            </a:fld>
            <a:endParaRPr lang="de-D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B7E2F3-7943-D0F7-AA17-FC6D77568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6759" y="2380574"/>
            <a:ext cx="3523916" cy="39728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9B2CE0-8228-3C54-DEF7-3C4335689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6759" y="2285272"/>
            <a:ext cx="3486637" cy="4068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729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C1F2F7-E088-B7FB-B926-13AF5C2F1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Primitives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1EF67F6-D32C-91D5-98E0-CED31E7C1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Hybrid </a:t>
            </a:r>
            <a:r>
              <a:rPr lang="de-DE" dirty="0" err="1"/>
              <a:t>Continuous</a:t>
            </a:r>
            <a:r>
              <a:rPr lang="de-DE" dirty="0"/>
              <a:t>-time </a:t>
            </a:r>
            <a:r>
              <a:rPr lang="de-DE" dirty="0" err="1"/>
              <a:t>dynamical</a:t>
            </a:r>
            <a:r>
              <a:rPr lang="de-DE" dirty="0"/>
              <a:t> </a:t>
            </a:r>
            <a:r>
              <a:rPr lang="de-DE" dirty="0" err="1"/>
              <a:t>system</a:t>
            </a:r>
            <a:endParaRPr lang="de-DE" dirty="0"/>
          </a:p>
          <a:p>
            <a:pPr lvl="2"/>
            <a:r>
              <a:rPr lang="de-DE" dirty="0" err="1"/>
              <a:t>Discrete</a:t>
            </a:r>
            <a:r>
              <a:rPr lang="de-DE" dirty="0"/>
              <a:t>-time </a:t>
            </a:r>
            <a:r>
              <a:rPr lang="de-DE" dirty="0" err="1"/>
              <a:t>dynamics</a:t>
            </a:r>
            <a:endParaRPr lang="de-DE" dirty="0"/>
          </a:p>
          <a:p>
            <a:pPr lvl="2"/>
            <a:r>
              <a:rPr lang="de-DE" dirty="0" err="1"/>
              <a:t>Continous</a:t>
            </a:r>
            <a:r>
              <a:rPr lang="de-DE" dirty="0"/>
              <a:t>-time </a:t>
            </a:r>
            <a:r>
              <a:rPr lang="de-DE" dirty="0" err="1"/>
              <a:t>dynamics</a:t>
            </a:r>
            <a:endParaRPr lang="de-DE" dirty="0"/>
          </a:p>
          <a:p>
            <a:r>
              <a:rPr lang="de-DE" dirty="0" err="1"/>
              <a:t>Subclass</a:t>
            </a:r>
            <a:r>
              <a:rPr lang="de-DE" dirty="0"/>
              <a:t> </a:t>
            </a:r>
            <a:r>
              <a:rPr lang="de-DE" b="1" dirty="0" err="1"/>
              <a:t>NIRNode</a:t>
            </a:r>
            <a:endParaRPr lang="de-DE" b="1" dirty="0"/>
          </a:p>
          <a:p>
            <a:pPr lvl="2"/>
            <a:r>
              <a:rPr lang="de-DE" dirty="0"/>
              <a:t>All Primitives </a:t>
            </a:r>
            <a:r>
              <a:rPr lang="de-DE" dirty="0" err="1"/>
              <a:t>children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NIRNode</a:t>
            </a:r>
            <a:endParaRPr lang="de-DE" dirty="0"/>
          </a:p>
          <a:p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input</a:t>
            </a:r>
            <a:r>
              <a:rPr lang="de-DE" dirty="0"/>
              <a:t> </a:t>
            </a:r>
            <a:r>
              <a:rPr lang="de-DE" dirty="0" err="1"/>
              <a:t>specifier</a:t>
            </a:r>
            <a:r>
              <a:rPr lang="de-DE" dirty="0"/>
              <a:t> (</a:t>
            </a:r>
            <a:r>
              <a:rPr lang="de-DE" dirty="0" err="1"/>
              <a:t>shape</a:t>
            </a:r>
            <a:r>
              <a:rPr lang="de-DE" dirty="0"/>
              <a:t>, type)</a:t>
            </a:r>
          </a:p>
          <a:p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output</a:t>
            </a:r>
            <a:r>
              <a:rPr lang="de-DE" dirty="0"/>
              <a:t> </a:t>
            </a:r>
            <a:r>
              <a:rPr lang="de-DE" dirty="0" err="1"/>
              <a:t>specifier</a:t>
            </a:r>
            <a:endParaRPr lang="de-DE" dirty="0"/>
          </a:p>
          <a:p>
            <a:r>
              <a:rPr lang="de-DE" dirty="0"/>
              <a:t>Parameters 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B7FC54-21A9-726C-C5D8-B09EDCCCD8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www.th-nuernberg.de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2A0C8A8-6524-1CCC-6392-EE956CF71B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9</a:t>
            </a:fld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B2CC131D-AEBE-2EEA-452F-7212B53459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General Architecture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E735648-5A72-000C-0071-30376C676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4790" y="1820289"/>
            <a:ext cx="3428606" cy="3957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549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58BB9-389E-13CF-6495-E8DB27F4D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6D1819-D3EB-20ED-DD66-C3F7D01A1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Primitives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9529096-9585-CDE9-1542-8C004382F16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www.th-nuernberg.de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4701EDB-C456-4337-B8F0-567065A27B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10</a:t>
            </a:fld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63DF956-C0D5-3BC1-CF1A-6A44055DF1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59360" y="1155671"/>
            <a:ext cx="5569200" cy="378000"/>
          </a:xfrm>
        </p:spPr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Primitive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DAB737B-3C3B-70F4-6A0E-F8E00100E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243" y="1533671"/>
            <a:ext cx="9021434" cy="1743318"/>
          </a:xfrm>
          <a:prstGeom prst="rect">
            <a:avLst/>
          </a:prstGeom>
        </p:spPr>
      </p:pic>
      <p:pic>
        <p:nvPicPr>
          <p:cNvPr id="13" name="Picture 12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087FB4A4-3145-B05D-6EA5-7BF971A06F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770" y="3276989"/>
            <a:ext cx="3494404" cy="3429000"/>
          </a:xfrm>
          <a:prstGeom prst="rect">
            <a:avLst/>
          </a:prstGeom>
        </p:spPr>
      </p:pic>
      <p:pic>
        <p:nvPicPr>
          <p:cNvPr id="15" name="Picture 14" descr="A computer screen with text and numbers&#10;&#10;Description automatically generated">
            <a:extLst>
              <a:ext uri="{FF2B5EF4-FFF2-40B4-BE49-F238E27FC236}">
                <a16:creationId xmlns:a16="http://schemas.microsoft.com/office/drawing/2014/main" id="{DF0F6E4A-27FF-FB88-2F2B-6D8DD558D1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8127" y="3473256"/>
            <a:ext cx="3860825" cy="290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637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EB238-2270-A4A6-567D-FB6E3F232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2790F8-C9E2-31BF-44AD-2A49F6366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Methodology</a:t>
            </a:r>
            <a:r>
              <a:rPr lang="de-DE" dirty="0"/>
              <a:t> &amp; </a:t>
            </a:r>
            <a:r>
              <a:rPr lang="de-DE" dirty="0" err="1"/>
              <a:t>Results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26D3D11-D3B4-6DC3-C71E-390E7FBB31F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www.th-nuernberg.de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2BE3204-B074-CD4A-00C3-E290DD9A7D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4429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E72F8-FDA9-B325-5CCE-541BD3AB3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CC7A8B-3B92-E25E-A758-45D780D9F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Original Plan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7BD0C25-F47B-AA9B-4004-47A9711A8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609343"/>
            <a:ext cx="11471638" cy="462686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de-DE" dirty="0"/>
              <a:t>Analyse </a:t>
            </a:r>
            <a:r>
              <a:rPr lang="de-DE" dirty="0" err="1"/>
              <a:t>existing</a:t>
            </a:r>
            <a:r>
              <a:rPr lang="de-DE" dirty="0"/>
              <a:t> SNN </a:t>
            </a:r>
            <a:r>
              <a:rPr lang="de-DE" dirty="0" err="1"/>
              <a:t>SPICEnet</a:t>
            </a:r>
            <a:r>
              <a:rPr lang="de-DE" dirty="0"/>
              <a:t> </a:t>
            </a:r>
            <a:r>
              <a:rPr lang="de-DE" dirty="0" err="1"/>
              <a:t>implementation</a:t>
            </a:r>
            <a:endParaRPr lang="de-DE" dirty="0"/>
          </a:p>
          <a:p>
            <a:pPr lvl="2">
              <a:lnSpc>
                <a:spcPct val="150000"/>
              </a:lnSpc>
            </a:pPr>
            <a:r>
              <a:rPr lang="de-DE" dirty="0"/>
              <a:t>Split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parts</a:t>
            </a:r>
            <a:endParaRPr lang="de-DE" dirty="0"/>
          </a:p>
          <a:p>
            <a:pPr lvl="2">
              <a:lnSpc>
                <a:spcPct val="150000"/>
              </a:lnSpc>
            </a:pPr>
            <a:r>
              <a:rPr lang="de-DE" dirty="0"/>
              <a:t>Analyse </a:t>
            </a:r>
            <a:r>
              <a:rPr lang="de-DE" dirty="0" err="1"/>
              <a:t>parameters</a:t>
            </a:r>
            <a:endParaRPr lang="de-DE" dirty="0"/>
          </a:p>
          <a:p>
            <a:pPr lvl="2">
              <a:lnSpc>
                <a:spcPct val="150000"/>
              </a:lnSpc>
            </a:pPr>
            <a:r>
              <a:rPr lang="de-DE" dirty="0"/>
              <a:t>Implement primitive </a:t>
            </a:r>
            <a:r>
              <a:rPr lang="de-DE" dirty="0" err="1"/>
              <a:t>architecture</a:t>
            </a:r>
            <a:endParaRPr lang="de-DE" dirty="0"/>
          </a:p>
          <a:p>
            <a:pPr>
              <a:lnSpc>
                <a:spcPct val="150000"/>
              </a:lnSpc>
            </a:pPr>
            <a:r>
              <a:rPr lang="de-DE" dirty="0" err="1"/>
              <a:t>Integrate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NIR Python Framework</a:t>
            </a:r>
          </a:p>
          <a:p>
            <a:pPr>
              <a:lnSpc>
                <a:spcPct val="150000"/>
              </a:lnSpc>
            </a:pPr>
            <a:r>
              <a:rPr lang="de-DE" dirty="0"/>
              <a:t>Setup </a:t>
            </a:r>
            <a:r>
              <a:rPr lang="de-DE" dirty="0" err="1"/>
              <a:t>reproducible</a:t>
            </a:r>
            <a:r>
              <a:rPr lang="de-DE" dirty="0"/>
              <a:t> </a:t>
            </a:r>
            <a:r>
              <a:rPr lang="de-DE" dirty="0" err="1"/>
              <a:t>SPICENet</a:t>
            </a:r>
            <a:r>
              <a:rPr lang="de-DE" dirty="0"/>
              <a:t> Evaluation Architecture</a:t>
            </a:r>
          </a:p>
          <a:p>
            <a:pPr lvl="2">
              <a:lnSpc>
                <a:spcPct val="150000"/>
              </a:lnSpc>
            </a:pPr>
            <a:r>
              <a:rPr lang="de-DE" dirty="0" err="1"/>
              <a:t>Evaluate</a:t>
            </a:r>
            <a:r>
              <a:rPr lang="de-DE" dirty="0"/>
              <a:t> on different SNN </a:t>
            </a:r>
            <a:r>
              <a:rPr lang="de-DE" dirty="0" err="1"/>
              <a:t>Platforms</a:t>
            </a: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7DDA195-2EC2-B3AC-5683-EAE48006323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59999" y="6379481"/>
            <a:ext cx="9000000" cy="136460"/>
          </a:xfrm>
        </p:spPr>
        <p:txBody>
          <a:bodyPr/>
          <a:lstStyle/>
          <a:p>
            <a:r>
              <a:rPr lang="de-DE" dirty="0"/>
              <a:t>www.th-nuernberg.de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248583D-5FB2-5462-B920-8BE80A7A6A9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1773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C54AF-B9F0-A8D2-7D3B-7F5C6A8D8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2B1CE0-E51E-E249-CDA2-A5FB88560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Original Plan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B474A8-1417-50C7-C99F-D4B8AD56C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de-DE" dirty="0"/>
              <a:t>Analyse </a:t>
            </a:r>
            <a:r>
              <a:rPr lang="de-DE" dirty="0" err="1"/>
              <a:t>existing</a:t>
            </a:r>
            <a:r>
              <a:rPr lang="de-DE" dirty="0"/>
              <a:t> SNN </a:t>
            </a:r>
            <a:r>
              <a:rPr lang="de-DE" dirty="0" err="1"/>
              <a:t>SPICEnet</a:t>
            </a:r>
            <a:r>
              <a:rPr lang="de-DE" dirty="0"/>
              <a:t> </a:t>
            </a:r>
            <a:r>
              <a:rPr lang="de-DE" dirty="0" err="1"/>
              <a:t>implementation</a:t>
            </a:r>
            <a:endParaRPr lang="de-DE" dirty="0"/>
          </a:p>
          <a:p>
            <a:pPr lvl="2">
              <a:lnSpc>
                <a:spcPct val="150000"/>
              </a:lnSpc>
            </a:pPr>
            <a:r>
              <a:rPr lang="de-DE" dirty="0">
                <a:solidFill>
                  <a:srgbClr val="FF0000"/>
                </a:solidFill>
              </a:rPr>
              <a:t>Tricks </a:t>
            </a:r>
            <a:r>
              <a:rPr lang="de-DE" dirty="0" err="1">
                <a:solidFill>
                  <a:srgbClr val="FF0000"/>
                </a:solidFill>
              </a:rPr>
              <a:t>using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FF0000"/>
                </a:solidFill>
              </a:rPr>
              <a:t>mostly</a:t>
            </a:r>
            <a:r>
              <a:rPr lang="de-DE" dirty="0">
                <a:solidFill>
                  <a:srgbClr val="FF0000"/>
                </a:solidFill>
              </a:rPr>
              <a:t> non-</a:t>
            </a:r>
            <a:r>
              <a:rPr lang="de-DE" dirty="0" err="1">
                <a:solidFill>
                  <a:srgbClr val="FF0000"/>
                </a:solidFill>
              </a:rPr>
              <a:t>spiking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FF0000"/>
                </a:solidFill>
              </a:rPr>
              <a:t>computations</a:t>
            </a:r>
            <a:endParaRPr lang="de-DE" dirty="0">
              <a:solidFill>
                <a:srgbClr val="FF0000"/>
              </a:solidFill>
            </a:endParaRPr>
          </a:p>
          <a:p>
            <a:pPr lvl="2">
              <a:lnSpc>
                <a:spcPct val="150000"/>
              </a:lnSpc>
            </a:pPr>
            <a:endParaRPr lang="de-DE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buFont typeface="Symbol" panose="05050102010706020507" pitchFamily="18" charset="2"/>
              <a:buChar char="Þ"/>
            </a:pPr>
            <a:r>
              <a:rPr lang="de-DE" dirty="0" err="1">
                <a:solidFill>
                  <a:schemeClr val="tx2"/>
                </a:solidFill>
              </a:rPr>
              <a:t>Can‘t</a:t>
            </a:r>
            <a:r>
              <a:rPr lang="de-DE" dirty="0">
                <a:solidFill>
                  <a:schemeClr val="tx2"/>
                </a:solidFill>
              </a:rPr>
              <a:t> </a:t>
            </a:r>
            <a:r>
              <a:rPr lang="de-DE" dirty="0" err="1">
                <a:solidFill>
                  <a:schemeClr val="tx2"/>
                </a:solidFill>
              </a:rPr>
              <a:t>depend</a:t>
            </a:r>
            <a:r>
              <a:rPr lang="de-DE" dirty="0">
                <a:solidFill>
                  <a:schemeClr val="tx2"/>
                </a:solidFill>
              </a:rPr>
              <a:t> on </a:t>
            </a:r>
            <a:r>
              <a:rPr lang="de-DE" dirty="0" err="1">
                <a:solidFill>
                  <a:schemeClr val="tx2"/>
                </a:solidFill>
              </a:rPr>
              <a:t>existing</a:t>
            </a:r>
            <a:r>
              <a:rPr lang="de-DE" dirty="0">
                <a:solidFill>
                  <a:schemeClr val="tx2"/>
                </a:solidFill>
              </a:rPr>
              <a:t> </a:t>
            </a:r>
            <a:r>
              <a:rPr lang="de-DE" dirty="0" err="1">
                <a:solidFill>
                  <a:schemeClr val="tx2"/>
                </a:solidFill>
              </a:rPr>
              <a:t>implementation</a:t>
            </a:r>
            <a:endParaRPr lang="de-DE" dirty="0">
              <a:solidFill>
                <a:schemeClr val="tx2"/>
              </a:solidFill>
            </a:endParaRPr>
          </a:p>
          <a:p>
            <a:pPr>
              <a:lnSpc>
                <a:spcPct val="150000"/>
              </a:lnSpc>
              <a:buFont typeface="Symbol" panose="05050102010706020507" pitchFamily="18" charset="2"/>
              <a:buChar char="Þ"/>
            </a:pPr>
            <a:r>
              <a:rPr lang="de-DE" dirty="0">
                <a:solidFill>
                  <a:schemeClr val="tx2"/>
                </a:solidFill>
              </a:rPr>
              <a:t>Alternative: Implement </a:t>
            </a:r>
            <a:r>
              <a:rPr lang="de-DE" dirty="0" err="1">
                <a:solidFill>
                  <a:schemeClr val="tx2"/>
                </a:solidFill>
              </a:rPr>
              <a:t>small</a:t>
            </a:r>
            <a:r>
              <a:rPr lang="de-DE" dirty="0">
                <a:solidFill>
                  <a:schemeClr val="tx2"/>
                </a:solidFill>
              </a:rPr>
              <a:t> </a:t>
            </a:r>
            <a:r>
              <a:rPr lang="de-DE" dirty="0" err="1">
                <a:solidFill>
                  <a:schemeClr val="tx2"/>
                </a:solidFill>
              </a:rPr>
              <a:t>component</a:t>
            </a:r>
            <a:r>
              <a:rPr lang="de-DE" dirty="0">
                <a:solidFill>
                  <a:schemeClr val="tx2"/>
                </a:solidFill>
              </a:rPr>
              <a:t> (SOM Forward) </a:t>
            </a:r>
            <a:r>
              <a:rPr lang="de-DE" dirty="0" err="1">
                <a:solidFill>
                  <a:schemeClr val="tx2"/>
                </a:solidFill>
              </a:rPr>
              <a:t>as</a:t>
            </a:r>
            <a:r>
              <a:rPr lang="de-DE" dirty="0">
                <a:solidFill>
                  <a:schemeClr val="tx2"/>
                </a:solidFill>
              </a:rPr>
              <a:t> </a:t>
            </a:r>
            <a:r>
              <a:rPr lang="de-DE" dirty="0" err="1">
                <a:solidFill>
                  <a:schemeClr val="tx2"/>
                </a:solidFill>
              </a:rPr>
              <a:t>part</a:t>
            </a:r>
            <a:r>
              <a:rPr lang="de-DE" dirty="0">
                <a:solidFill>
                  <a:schemeClr val="tx2"/>
                </a:solidFill>
              </a:rPr>
              <a:t> </a:t>
            </a:r>
            <a:r>
              <a:rPr lang="de-DE" dirty="0" err="1">
                <a:solidFill>
                  <a:schemeClr val="tx2"/>
                </a:solidFill>
              </a:rPr>
              <a:t>of</a:t>
            </a:r>
            <a:r>
              <a:rPr lang="de-DE" dirty="0">
                <a:solidFill>
                  <a:schemeClr val="tx2"/>
                </a:solidFill>
              </a:rPr>
              <a:t> </a:t>
            </a:r>
            <a:r>
              <a:rPr lang="de-DE" dirty="0" err="1">
                <a:solidFill>
                  <a:schemeClr val="tx2"/>
                </a:solidFill>
              </a:rPr>
              <a:t>the</a:t>
            </a:r>
            <a:r>
              <a:rPr lang="de-DE" dirty="0">
                <a:solidFill>
                  <a:schemeClr val="tx2"/>
                </a:solidFill>
              </a:rPr>
              <a:t> Bachelors</a:t>
            </a:r>
          </a:p>
          <a:p>
            <a:pPr>
              <a:lnSpc>
                <a:spcPct val="150000"/>
              </a:lnSpc>
              <a:buFont typeface="Symbol" panose="05050102010706020507" pitchFamily="18" charset="2"/>
              <a:buChar char="Þ"/>
            </a:pPr>
            <a:r>
              <a:rPr lang="de-DE" dirty="0">
                <a:solidFill>
                  <a:schemeClr val="tx2"/>
                </a:solidFill>
              </a:rPr>
              <a:t>Rest </a:t>
            </a:r>
            <a:r>
              <a:rPr lang="de-DE" dirty="0" err="1">
                <a:solidFill>
                  <a:schemeClr val="tx2"/>
                </a:solidFill>
              </a:rPr>
              <a:t>of</a:t>
            </a:r>
            <a:r>
              <a:rPr lang="de-DE" dirty="0">
                <a:solidFill>
                  <a:schemeClr val="tx2"/>
                </a:solidFill>
              </a:rPr>
              <a:t> </a:t>
            </a:r>
            <a:r>
              <a:rPr lang="de-DE" dirty="0" err="1">
                <a:solidFill>
                  <a:schemeClr val="tx2"/>
                </a:solidFill>
              </a:rPr>
              <a:t>the</a:t>
            </a:r>
            <a:r>
              <a:rPr lang="de-DE" dirty="0">
                <a:solidFill>
                  <a:schemeClr val="tx2"/>
                </a:solidFill>
              </a:rPr>
              <a:t> </a:t>
            </a:r>
            <a:r>
              <a:rPr lang="de-DE" dirty="0" err="1">
                <a:solidFill>
                  <a:schemeClr val="tx2"/>
                </a:solidFill>
              </a:rPr>
              <a:t>process</a:t>
            </a:r>
            <a:r>
              <a:rPr lang="de-DE" dirty="0">
                <a:solidFill>
                  <a:schemeClr val="tx2"/>
                </a:solidFill>
              </a:rPr>
              <a:t> </a:t>
            </a:r>
            <a:r>
              <a:rPr lang="de-DE" dirty="0" err="1">
                <a:solidFill>
                  <a:schemeClr val="tx2"/>
                </a:solidFill>
              </a:rPr>
              <a:t>the</a:t>
            </a:r>
            <a:r>
              <a:rPr lang="de-DE" dirty="0">
                <a:solidFill>
                  <a:schemeClr val="tx2"/>
                </a:solidFill>
              </a:rPr>
              <a:t> same</a:t>
            </a:r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CD287C6-E536-04DE-3FB8-4D1C3CD8108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..but not </a:t>
            </a:r>
            <a:r>
              <a:rPr lang="de-DE" dirty="0" err="1"/>
              <a:t>anymore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EBD623-950F-B51D-6FAE-2593DB9A598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59999" y="6379481"/>
            <a:ext cx="9000000" cy="136460"/>
          </a:xfrm>
        </p:spPr>
        <p:txBody>
          <a:bodyPr/>
          <a:lstStyle/>
          <a:p>
            <a:r>
              <a:rPr lang="de-DE" dirty="0"/>
              <a:t>www.th-nuernberg.de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A69301-82BF-49B6-24EE-632CA5437BE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8780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11F8A-B1D6-4EEA-96BF-214F88A8F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721C69-7AE0-CD28-9BB5-D703BC26B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SOM Implementation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F8B9D7D-9A5C-530B-F1C9-51B208C80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2246997"/>
            <a:ext cx="11471638" cy="368020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de-DE" dirty="0" err="1"/>
              <a:t>unsupervised</a:t>
            </a:r>
            <a:r>
              <a:rPr lang="de-DE" dirty="0"/>
              <a:t> -&gt; </a:t>
            </a:r>
            <a:r>
              <a:rPr lang="de-DE" dirty="0" err="1"/>
              <a:t>supervised</a:t>
            </a:r>
            <a:endParaRPr lang="de-DE" dirty="0"/>
          </a:p>
          <a:p>
            <a:pPr>
              <a:lnSpc>
                <a:spcPct val="150000"/>
              </a:lnSpc>
            </a:pPr>
            <a:r>
              <a:rPr lang="de-DE" dirty="0"/>
              <a:t>Generating </a:t>
            </a:r>
            <a:r>
              <a:rPr lang="de-DE" dirty="0" err="1"/>
              <a:t>synthetic</a:t>
            </a:r>
            <a:r>
              <a:rPr lang="de-DE" dirty="0"/>
              <a:t> </a:t>
            </a:r>
            <a:r>
              <a:rPr lang="de-DE" dirty="0" err="1"/>
              <a:t>data</a:t>
            </a:r>
            <a:endParaRPr lang="de-DE" dirty="0"/>
          </a:p>
          <a:p>
            <a:pPr>
              <a:lnSpc>
                <a:spcPct val="150000"/>
              </a:lnSpc>
            </a:pPr>
            <a:r>
              <a:rPr lang="de-DE" dirty="0" err="1"/>
              <a:t>Choosing</a:t>
            </a:r>
            <a:r>
              <a:rPr lang="de-DE" dirty="0"/>
              <a:t> </a:t>
            </a:r>
            <a:r>
              <a:rPr lang="de-DE" dirty="0" err="1"/>
              <a:t>architecture</a:t>
            </a:r>
            <a:endParaRPr lang="de-DE" dirty="0"/>
          </a:p>
          <a:p>
            <a:pPr>
              <a:lnSpc>
                <a:spcPct val="150000"/>
              </a:lnSpc>
            </a:pPr>
            <a:r>
              <a:rPr lang="de-DE" dirty="0"/>
              <a:t>Training </a:t>
            </a:r>
            <a:r>
              <a:rPr lang="de-DE" dirty="0" err="1"/>
              <a:t>model</a:t>
            </a:r>
            <a:endParaRPr lang="de-DE" dirty="0"/>
          </a:p>
          <a:p>
            <a:pPr>
              <a:lnSpc>
                <a:spcPct val="150000"/>
              </a:lnSpc>
            </a:pPr>
            <a:r>
              <a:rPr lang="de-DE" dirty="0" err="1"/>
              <a:t>Evaluating</a:t>
            </a:r>
            <a:r>
              <a:rPr lang="de-DE" dirty="0"/>
              <a:t> </a:t>
            </a:r>
            <a:r>
              <a:rPr lang="de-DE" dirty="0" err="1"/>
              <a:t>performance</a:t>
            </a: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477D6B6-39AE-113D-98BF-5D58A42DB6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Training SOM SNN Forward </a:t>
            </a:r>
            <a:r>
              <a:rPr lang="de-DE" dirty="0" err="1"/>
              <a:t>Function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A1D7BB-03CB-CE06-F55A-88152FB9FB1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59999" y="6379481"/>
            <a:ext cx="9000000" cy="136460"/>
          </a:xfrm>
        </p:spPr>
        <p:txBody>
          <a:bodyPr/>
          <a:lstStyle/>
          <a:p>
            <a:r>
              <a:rPr lang="de-DE" dirty="0"/>
              <a:t>www.th-nuernberg.de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C3B1D45-D33E-BD49-42EC-3CD19E61E03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14</a:t>
            </a:fld>
            <a:endParaRPr lang="de-DE"/>
          </a:p>
        </p:txBody>
      </p:sp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085CEBC6-FCFA-CB55-D217-B1E16DCA8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607" y="1190653"/>
            <a:ext cx="2730505" cy="4476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0189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01ED3-5A28-76D1-7A14-336784BF5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E90F01-3112-AAA6-1E7F-328042991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99" y="809786"/>
            <a:ext cx="11471638" cy="529343"/>
          </a:xfrm>
        </p:spPr>
        <p:txBody>
          <a:bodyPr/>
          <a:lstStyle/>
          <a:p>
            <a:r>
              <a:rPr lang="de-DE" dirty="0"/>
              <a:t>SNN Trainingsansätze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ABE1450-9243-FACB-007E-747B14F36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999" y="2228079"/>
            <a:ext cx="5736001" cy="368020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de-DE" dirty="0" err="1"/>
              <a:t>Decide</a:t>
            </a:r>
            <a:r>
              <a:rPr lang="de-DE" dirty="0"/>
              <a:t> on </a:t>
            </a:r>
            <a:r>
              <a:rPr lang="de-DE" b="1" dirty="0"/>
              <a:t>Encoding </a:t>
            </a:r>
            <a:r>
              <a:rPr lang="de-DE" b="1" dirty="0" err="1"/>
              <a:t>Strategy</a:t>
            </a:r>
            <a:endParaRPr lang="de-DE" b="1" dirty="0"/>
          </a:p>
          <a:p>
            <a:pPr>
              <a:lnSpc>
                <a:spcPct val="150000"/>
              </a:lnSpc>
            </a:pPr>
            <a:r>
              <a:rPr lang="de-DE" b="1" dirty="0" err="1"/>
              <a:t>Encode</a:t>
            </a:r>
            <a:r>
              <a:rPr lang="de-DE" dirty="0"/>
              <a:t> </a:t>
            </a:r>
            <a:r>
              <a:rPr lang="de-DE" dirty="0" err="1"/>
              <a:t>input</a:t>
            </a:r>
            <a:r>
              <a:rPr lang="de-DE" dirty="0"/>
              <a:t> </a:t>
            </a:r>
            <a:r>
              <a:rPr lang="de-DE" dirty="0" err="1"/>
              <a:t>values</a:t>
            </a:r>
            <a:endParaRPr lang="de-DE" b="1" dirty="0"/>
          </a:p>
          <a:p>
            <a:pPr>
              <a:lnSpc>
                <a:spcPct val="150000"/>
              </a:lnSpc>
            </a:pPr>
            <a:r>
              <a:rPr lang="de-DE" dirty="0" err="1"/>
              <a:t>Decide</a:t>
            </a:r>
            <a:r>
              <a:rPr lang="de-DE" dirty="0"/>
              <a:t> on SNN Architecture</a:t>
            </a:r>
          </a:p>
          <a:p>
            <a:pPr>
              <a:lnSpc>
                <a:spcPct val="150000"/>
              </a:lnSpc>
            </a:pPr>
            <a:r>
              <a:rPr lang="de-DE" dirty="0"/>
              <a:t>Train SNN </a:t>
            </a:r>
            <a:r>
              <a:rPr lang="de-DE" dirty="0" err="1"/>
              <a:t>directly</a:t>
            </a:r>
            <a:endParaRPr lang="de-DE" dirty="0"/>
          </a:p>
          <a:p>
            <a:pPr>
              <a:lnSpc>
                <a:spcPct val="150000"/>
              </a:lnSpc>
            </a:pPr>
            <a:r>
              <a:rPr lang="de-DE" dirty="0" err="1"/>
              <a:t>Evaluate</a:t>
            </a:r>
            <a:r>
              <a:rPr lang="de-DE" dirty="0"/>
              <a:t> </a:t>
            </a:r>
            <a:r>
              <a:rPr lang="de-DE" b="1" dirty="0" err="1"/>
              <a:t>decoded</a:t>
            </a:r>
            <a:r>
              <a:rPr lang="de-DE" b="1" dirty="0"/>
              <a:t> </a:t>
            </a:r>
            <a:r>
              <a:rPr lang="de-DE" dirty="0"/>
              <a:t>SNN </a:t>
            </a:r>
            <a:r>
              <a:rPr lang="de-DE" dirty="0" err="1"/>
              <a:t>outputs</a:t>
            </a:r>
            <a:r>
              <a:rPr lang="de-DE" dirty="0"/>
              <a:t> </a:t>
            </a:r>
            <a:r>
              <a:rPr lang="de-DE" dirty="0" err="1"/>
              <a:t>directly</a:t>
            </a:r>
            <a:endParaRPr lang="de-DE" dirty="0"/>
          </a:p>
          <a:p>
            <a:pPr>
              <a:lnSpc>
                <a:spcPct val="150000"/>
              </a:lnSpc>
            </a:pPr>
            <a:r>
              <a:rPr lang="de-DE" dirty="0" err="1"/>
              <a:t>No</a:t>
            </a:r>
            <a:r>
              <a:rPr lang="de-DE" dirty="0"/>
              <a:t> „tricks“ </a:t>
            </a:r>
            <a:r>
              <a:rPr lang="de-DE" dirty="0" err="1"/>
              <a:t>necessary</a:t>
            </a: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74B9987-62B1-9F13-AACD-E8DFF7D83D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0000" y="1764000"/>
            <a:ext cx="5000276" cy="378000"/>
          </a:xfrm>
        </p:spPr>
        <p:txBody>
          <a:bodyPr/>
          <a:lstStyle/>
          <a:p>
            <a:r>
              <a:rPr lang="de-DE" dirty="0"/>
              <a:t>SNN First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A84D085-D749-64B2-939A-E40050F61E6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59999" y="6379481"/>
            <a:ext cx="9000000" cy="136460"/>
          </a:xfrm>
        </p:spPr>
        <p:txBody>
          <a:bodyPr/>
          <a:lstStyle/>
          <a:p>
            <a:r>
              <a:rPr lang="de-DE" dirty="0"/>
              <a:t>www.th-nuernberg.de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F86BD6-203D-0A69-7D88-691C6B32C29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15</a:t>
            </a:fld>
            <a:endParaRPr lang="de-DE"/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D85A7908-2312-B14E-026F-6D26210AA364}"/>
              </a:ext>
            </a:extLst>
          </p:cNvPr>
          <p:cNvSpPr txBox="1">
            <a:spLocks/>
          </p:cNvSpPr>
          <p:nvPr/>
        </p:nvSpPr>
        <p:spPr>
          <a:xfrm>
            <a:off x="6487240" y="1764000"/>
            <a:ext cx="5000276" cy="37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29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8000" indent="-2304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8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36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66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04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34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ANN First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D968A984-FAB4-2C85-CA8E-B8A5E8D63B59}"/>
              </a:ext>
            </a:extLst>
          </p:cNvPr>
          <p:cNvSpPr txBox="1">
            <a:spLocks/>
          </p:cNvSpPr>
          <p:nvPr/>
        </p:nvSpPr>
        <p:spPr>
          <a:xfrm>
            <a:off x="6455999" y="2228079"/>
            <a:ext cx="5736001" cy="368020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30400" indent="-2304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8000" indent="-2304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8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36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66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00000" indent="-228600" algn="l" defTabSz="914400" rtl="0" eaLnBrk="1" latinLnBrk="0" hangingPunct="1">
              <a:lnSpc>
                <a:spcPts val="192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16000" indent="-228600" algn="l" defTabSz="914400" rtl="0" eaLnBrk="1" latinLnBrk="0" hangingPunct="1">
              <a:lnSpc>
                <a:spcPts val="192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de-DE" dirty="0"/>
              <a:t>Train </a:t>
            </a:r>
            <a:r>
              <a:rPr lang="de-DE" dirty="0" err="1"/>
              <a:t>Artifical</a:t>
            </a:r>
            <a:r>
              <a:rPr lang="de-DE" dirty="0"/>
              <a:t> </a:t>
            </a:r>
            <a:r>
              <a:rPr lang="de-DE" dirty="0" err="1"/>
              <a:t>Neural</a:t>
            </a:r>
            <a:r>
              <a:rPr lang="de-DE" dirty="0"/>
              <a:t> Network</a:t>
            </a:r>
          </a:p>
          <a:p>
            <a:pPr>
              <a:lnSpc>
                <a:spcPct val="150000"/>
              </a:lnSpc>
            </a:pPr>
            <a:r>
              <a:rPr lang="de-DE" dirty="0" err="1"/>
              <a:t>Optimize</a:t>
            </a:r>
            <a:r>
              <a:rPr lang="de-DE" dirty="0"/>
              <a:t> </a:t>
            </a:r>
            <a:r>
              <a:rPr lang="de-DE" dirty="0" err="1"/>
              <a:t>it</a:t>
            </a:r>
            <a:endParaRPr lang="de-DE" dirty="0"/>
          </a:p>
          <a:p>
            <a:pPr>
              <a:lnSpc>
                <a:spcPct val="150000"/>
              </a:lnSpc>
            </a:pPr>
            <a:r>
              <a:rPr lang="de-DE" dirty="0" err="1"/>
              <a:t>Evaluate</a:t>
            </a:r>
            <a:r>
              <a:rPr lang="de-DE" dirty="0"/>
              <a:t> </a:t>
            </a:r>
            <a:r>
              <a:rPr lang="de-DE" dirty="0" err="1"/>
              <a:t>it</a:t>
            </a:r>
            <a:endParaRPr lang="de-DE" dirty="0"/>
          </a:p>
          <a:p>
            <a:pPr>
              <a:lnSpc>
                <a:spcPct val="150000"/>
              </a:lnSpc>
            </a:pPr>
            <a:r>
              <a:rPr lang="de-DE" dirty="0"/>
              <a:t>Transform ANN </a:t>
            </a:r>
            <a:r>
              <a:rPr lang="de-DE" dirty="0" err="1"/>
              <a:t>to</a:t>
            </a:r>
            <a:r>
              <a:rPr lang="de-DE" dirty="0"/>
              <a:t> SNN</a:t>
            </a:r>
          </a:p>
          <a:p>
            <a:pPr>
              <a:lnSpc>
                <a:spcPct val="150000"/>
              </a:lnSpc>
            </a:pPr>
            <a:r>
              <a:rPr lang="de-DE" dirty="0" err="1"/>
              <a:t>Evaluate</a:t>
            </a:r>
            <a:r>
              <a:rPr lang="de-DE" dirty="0"/>
              <a:t> SNN Performance</a:t>
            </a:r>
          </a:p>
          <a:p>
            <a:pPr>
              <a:lnSpc>
                <a:spcPct val="150000"/>
              </a:lnSpc>
            </a:pPr>
            <a:r>
              <a:rPr lang="de-DE" dirty="0">
                <a:solidFill>
                  <a:srgbClr val="C00000"/>
                </a:solidFill>
              </a:rPr>
              <a:t>SNN Architecture not optimal</a:t>
            </a:r>
          </a:p>
          <a:p>
            <a:pPr>
              <a:lnSpc>
                <a:spcPct val="150000"/>
              </a:lnSpc>
            </a:pPr>
            <a:endParaRPr lang="de-DE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CCC966A-CDB4-3BBF-B794-2BE680FD2033}"/>
              </a:ext>
            </a:extLst>
          </p:cNvPr>
          <p:cNvSpPr/>
          <p:nvPr/>
        </p:nvSpPr>
        <p:spPr>
          <a:xfrm>
            <a:off x="6095819" y="1545652"/>
            <a:ext cx="4793046" cy="4444616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de-DE" sz="24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4AB61F5-442D-AE3A-D9C8-A28FD08C3F09}"/>
              </a:ext>
            </a:extLst>
          </p:cNvPr>
          <p:cNvSpPr/>
          <p:nvPr/>
        </p:nvSpPr>
        <p:spPr>
          <a:xfrm>
            <a:off x="100899" y="1545652"/>
            <a:ext cx="5523533" cy="4444616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de-DE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B65993-69D7-BAB6-B2B0-BA01DE5354DB}"/>
              </a:ext>
            </a:extLst>
          </p:cNvPr>
          <p:cNvSpPr txBox="1"/>
          <p:nvPr/>
        </p:nvSpPr>
        <p:spPr>
          <a:xfrm>
            <a:off x="4391505" y="1623150"/>
            <a:ext cx="936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C00000"/>
                </a:solidFill>
              </a:rPr>
              <a:t>Maybe?</a:t>
            </a:r>
          </a:p>
        </p:txBody>
      </p:sp>
    </p:spTree>
    <p:extLst>
      <p:ext uri="{BB962C8B-B14F-4D97-AF65-F5344CB8AC3E}">
        <p14:creationId xmlns:p14="http://schemas.microsoft.com/office/powerpoint/2010/main" val="2827447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 animBg="1"/>
      <p:bldP spid="11" grpId="0" animBg="1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1B641-5392-B682-5F2C-C12443EE6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A88736-7217-98DE-11A2-2F84FCA09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SOM Implementation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347697A-90E6-81B8-B1C5-71C7E42FC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2246997"/>
            <a:ext cx="11471638" cy="368020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de-DE" dirty="0"/>
              <a:t>Standard </a:t>
            </a:r>
            <a:r>
              <a:rPr lang="de-DE" dirty="0" err="1"/>
              <a:t>deviation</a:t>
            </a:r>
            <a:r>
              <a:rPr lang="de-DE" dirty="0"/>
              <a:t> (</a:t>
            </a:r>
            <a:r>
              <a:rPr lang="el-GR" dirty="0"/>
              <a:t>σ</a:t>
            </a:r>
            <a:r>
              <a:rPr lang="de-DE" dirty="0"/>
              <a:t>, z) </a:t>
            </a:r>
            <a:r>
              <a:rPr lang="de-DE" dirty="0" err="1"/>
              <a:t>from</a:t>
            </a:r>
            <a:r>
              <a:rPr lang="de-DE" dirty="0"/>
              <a:t> 0.1 </a:t>
            </a:r>
            <a:r>
              <a:rPr lang="de-DE" dirty="0" err="1"/>
              <a:t>to</a:t>
            </a:r>
            <a:r>
              <a:rPr lang="de-DE" dirty="0"/>
              <a:t> 2*PI</a:t>
            </a:r>
          </a:p>
          <a:p>
            <a:pPr>
              <a:lnSpc>
                <a:spcPct val="150000"/>
              </a:lnSpc>
            </a:pPr>
            <a:r>
              <a:rPr lang="de-DE" dirty="0"/>
              <a:t>Mean / </a:t>
            </a:r>
            <a:r>
              <a:rPr lang="de-DE" dirty="0" err="1"/>
              <a:t>Expectation</a:t>
            </a:r>
            <a:r>
              <a:rPr lang="de-DE" dirty="0"/>
              <a:t> (y) </a:t>
            </a:r>
            <a:r>
              <a:rPr lang="de-DE" dirty="0" err="1"/>
              <a:t>from</a:t>
            </a:r>
            <a:r>
              <a:rPr lang="de-DE" dirty="0"/>
              <a:t> –PI </a:t>
            </a:r>
            <a:r>
              <a:rPr lang="de-DE" dirty="0" err="1"/>
              <a:t>to</a:t>
            </a:r>
            <a:r>
              <a:rPr lang="de-DE" dirty="0"/>
              <a:t> +PI</a:t>
            </a:r>
          </a:p>
          <a:p>
            <a:pPr>
              <a:lnSpc>
                <a:spcPct val="150000"/>
              </a:lnSpc>
            </a:pPr>
            <a:r>
              <a:rPr lang="de-DE" dirty="0"/>
              <a:t>Input </a:t>
            </a:r>
            <a:r>
              <a:rPr lang="de-DE" dirty="0" err="1"/>
              <a:t>values</a:t>
            </a:r>
            <a:r>
              <a:rPr lang="de-DE" dirty="0"/>
              <a:t> (x) </a:t>
            </a:r>
            <a:r>
              <a:rPr lang="de-DE" dirty="0" err="1"/>
              <a:t>between</a:t>
            </a:r>
            <a:r>
              <a:rPr lang="de-DE" dirty="0"/>
              <a:t> -3</a:t>
            </a:r>
            <a:r>
              <a:rPr lang="el-GR" dirty="0"/>
              <a:t>σ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+3</a:t>
            </a:r>
            <a:r>
              <a:rPr lang="el-GR" dirty="0"/>
              <a:t>σ </a:t>
            </a:r>
            <a:endParaRPr lang="de-DE" dirty="0"/>
          </a:p>
          <a:p>
            <a:pPr>
              <a:lnSpc>
                <a:spcPct val="150000"/>
              </a:lnSpc>
            </a:pPr>
            <a:r>
              <a:rPr lang="de-DE" b="1" dirty="0" err="1"/>
              <a:t>Current</a:t>
            </a:r>
            <a:r>
              <a:rPr lang="de-DE" b="1" dirty="0"/>
              <a:t> Problems: </a:t>
            </a:r>
          </a:p>
          <a:p>
            <a:pPr lvl="2">
              <a:lnSpc>
                <a:spcPct val="150000"/>
              </a:lnSpc>
            </a:pPr>
            <a:r>
              <a:rPr lang="de-DE" dirty="0"/>
              <a:t>Lower STD </a:t>
            </a:r>
            <a:r>
              <a:rPr lang="de-DE" dirty="0" err="1"/>
              <a:t>results</a:t>
            </a:r>
            <a:r>
              <a:rPr lang="de-DE" dirty="0"/>
              <a:t> in </a:t>
            </a:r>
            <a:r>
              <a:rPr lang="de-DE" dirty="0" err="1"/>
              <a:t>huge</a:t>
            </a:r>
            <a:r>
              <a:rPr lang="de-DE" dirty="0"/>
              <a:t> </a:t>
            </a:r>
            <a:r>
              <a:rPr lang="de-DE" dirty="0" err="1"/>
              <a:t>density</a:t>
            </a:r>
            <a:r>
              <a:rPr lang="de-DE" dirty="0"/>
              <a:t> </a:t>
            </a:r>
            <a:r>
              <a:rPr lang="de-DE" dirty="0" err="1"/>
              <a:t>values</a:t>
            </a:r>
            <a:endParaRPr lang="de-DE" dirty="0"/>
          </a:p>
          <a:p>
            <a:pPr lvl="2">
              <a:lnSpc>
                <a:spcPct val="150000"/>
              </a:lnSpc>
            </a:pPr>
            <a:r>
              <a:rPr lang="de-DE" dirty="0"/>
              <a:t>Limited </a:t>
            </a:r>
            <a:r>
              <a:rPr lang="de-DE" dirty="0" err="1"/>
              <a:t>ranges</a:t>
            </a:r>
            <a:endParaRPr lang="de-DE" dirty="0"/>
          </a:p>
          <a:p>
            <a:pPr lvl="2">
              <a:lnSpc>
                <a:spcPct val="150000"/>
              </a:lnSpc>
            </a:pPr>
            <a:r>
              <a:rPr lang="de-DE" dirty="0"/>
              <a:t>Right </a:t>
            </a:r>
            <a:r>
              <a:rPr lang="de-DE" dirty="0" err="1"/>
              <a:t>Tailed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distribution</a:t>
            </a: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18C0BC3-CF5E-5B4C-40EF-CEE4679F3CC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 err="1"/>
              <a:t>Synthetic</a:t>
            </a:r>
            <a:r>
              <a:rPr lang="de-DE" dirty="0"/>
              <a:t> Data Generation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1C73FB3-0756-A81B-9044-03D53D6E8C0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59999" y="6379481"/>
            <a:ext cx="9000000" cy="136460"/>
          </a:xfrm>
        </p:spPr>
        <p:txBody>
          <a:bodyPr/>
          <a:lstStyle/>
          <a:p>
            <a:r>
              <a:rPr lang="de-DE" dirty="0"/>
              <a:t>www.th-nuernberg.de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24F7B99-4F54-3012-8055-06F17ED99D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16</a:t>
            </a:fld>
            <a:endParaRPr lang="de-DE"/>
          </a:p>
        </p:txBody>
      </p:sp>
      <p:pic>
        <p:nvPicPr>
          <p:cNvPr id="9" name="Picture 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3D73D0D-FE9F-5507-9B08-8EC66C43AD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3881" y="1690382"/>
            <a:ext cx="5833635" cy="11401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A88B1C-0C8D-0899-396C-436B96C2F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107" y="2930165"/>
            <a:ext cx="4827409" cy="336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104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8FD04-F27F-4EEF-E074-8C5686B3A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018D84-A882-8B3C-6CC8-FF84902E3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SOM Implementation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5F5EFB-D032-4583-4108-E64229A3A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2246997"/>
            <a:ext cx="11471638" cy="368020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de-DE" dirty="0"/>
              <a:t>Multiple Architecture </a:t>
            </a:r>
            <a:r>
              <a:rPr lang="de-DE" dirty="0" err="1"/>
              <a:t>Attempts</a:t>
            </a:r>
            <a:r>
              <a:rPr lang="de-DE" dirty="0"/>
              <a:t>:</a:t>
            </a:r>
          </a:p>
          <a:p>
            <a:pPr lvl="2">
              <a:lnSpc>
                <a:spcPct val="150000"/>
              </a:lnSpc>
            </a:pPr>
            <a:r>
              <a:rPr lang="de-DE" dirty="0"/>
              <a:t>All </a:t>
            </a:r>
            <a:r>
              <a:rPr lang="de-DE" dirty="0" err="1"/>
              <a:t>Smallish</a:t>
            </a:r>
            <a:r>
              <a:rPr lang="de-DE" dirty="0"/>
              <a:t> Input – Hidden * (1 </a:t>
            </a:r>
            <a:r>
              <a:rPr lang="de-DE" dirty="0" err="1"/>
              <a:t>to</a:t>
            </a:r>
            <a:r>
              <a:rPr lang="de-DE" dirty="0"/>
              <a:t> 3) – Output</a:t>
            </a:r>
          </a:p>
          <a:p>
            <a:pPr>
              <a:lnSpc>
                <a:spcPct val="150000"/>
              </a:lnSpc>
            </a:pPr>
            <a:r>
              <a:rPr lang="de-DE" dirty="0"/>
              <a:t>Adam </a:t>
            </a:r>
            <a:r>
              <a:rPr lang="de-DE" dirty="0" err="1"/>
              <a:t>or</a:t>
            </a:r>
            <a:r>
              <a:rPr lang="de-DE" dirty="0"/>
              <a:t> SGD Optimizer</a:t>
            </a:r>
          </a:p>
          <a:p>
            <a:pPr>
              <a:lnSpc>
                <a:spcPct val="150000"/>
              </a:lnSpc>
            </a:pPr>
            <a:r>
              <a:rPr lang="de-DE" dirty="0" err="1"/>
              <a:t>Sometimes</a:t>
            </a:r>
            <a:r>
              <a:rPr lang="de-DE" dirty="0"/>
              <a:t> Dropout </a:t>
            </a:r>
            <a:r>
              <a:rPr lang="de-DE" dirty="0" err="1"/>
              <a:t>Regularization</a:t>
            </a:r>
            <a:endParaRPr lang="de-DE" dirty="0"/>
          </a:p>
          <a:p>
            <a:pPr>
              <a:lnSpc>
                <a:spcPct val="150000"/>
              </a:lnSpc>
            </a:pPr>
            <a:r>
              <a:rPr lang="de-DE" dirty="0"/>
              <a:t>Mean </a:t>
            </a:r>
            <a:r>
              <a:rPr lang="de-DE" dirty="0" err="1"/>
              <a:t>Squared</a:t>
            </a:r>
            <a:r>
              <a:rPr lang="de-DE" dirty="0"/>
              <a:t> Error Loss – </a:t>
            </a:r>
            <a:r>
              <a:rPr lang="de-DE" dirty="0" err="1"/>
              <a:t>maybe</a:t>
            </a:r>
            <a:r>
              <a:rPr lang="de-DE" dirty="0"/>
              <a:t> not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best</a:t>
            </a:r>
            <a:endParaRPr lang="de-DE" dirty="0"/>
          </a:p>
          <a:p>
            <a:pPr>
              <a:lnSpc>
                <a:spcPct val="150000"/>
              </a:lnSpc>
            </a:pPr>
            <a:r>
              <a:rPr lang="de-DE" dirty="0"/>
              <a:t>SNN Transformation </a:t>
            </a:r>
            <a:r>
              <a:rPr lang="de-DE" dirty="0" err="1"/>
              <a:t>is</a:t>
            </a:r>
            <a:r>
              <a:rPr lang="de-DE" dirty="0"/>
              <a:t> a simple </a:t>
            </a:r>
            <a:r>
              <a:rPr lang="de-DE" dirty="0" err="1"/>
              <a:t>function</a:t>
            </a:r>
            <a:r>
              <a:rPr lang="de-DE" dirty="0"/>
              <a:t> </a:t>
            </a:r>
            <a:r>
              <a:rPr lang="de-DE" dirty="0" err="1"/>
              <a:t>call</a:t>
            </a: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89875D5-BC8F-63D3-657A-DDE05DFDCD8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ANN Training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74B97FA-8FC7-43CB-8F42-A23C854F595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59999" y="6379481"/>
            <a:ext cx="9000000" cy="136460"/>
          </a:xfrm>
        </p:spPr>
        <p:txBody>
          <a:bodyPr/>
          <a:lstStyle/>
          <a:p>
            <a:r>
              <a:rPr lang="de-DE" dirty="0"/>
              <a:t>www.th-nuernberg.de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B16EC42-E4D2-CFAB-F08C-FD5BE951AF1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04675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0F7A6-7843-4F4C-93B9-3ECD4E9F1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67B0BF-3F5D-3F68-B882-138A069B6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NIR Integration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647296-7FB4-524B-8B87-AF84CAC79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2246997"/>
            <a:ext cx="11471638" cy="368020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de-DE" dirty="0"/>
              <a:t>NIR </a:t>
            </a:r>
            <a:r>
              <a:rPr lang="de-DE" dirty="0" err="1"/>
              <a:t>is</a:t>
            </a:r>
            <a:r>
              <a:rPr lang="de-DE" dirty="0"/>
              <a:t> just an </a:t>
            </a:r>
            <a:r>
              <a:rPr lang="de-DE" dirty="0" err="1"/>
              <a:t>exchange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2">
              <a:lnSpc>
                <a:spcPct val="150000"/>
              </a:lnSpc>
              <a:buFont typeface="Symbol" panose="05050102010706020507" pitchFamily="18" charset="2"/>
              <a:buChar char="Þ"/>
            </a:pPr>
            <a:r>
              <a:rPr lang="de-DE" dirty="0" err="1"/>
              <a:t>SPICEnet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instantiated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exported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NIR</a:t>
            </a:r>
          </a:p>
          <a:p>
            <a:pPr>
              <a:lnSpc>
                <a:spcPct val="150000"/>
              </a:lnSpc>
            </a:pPr>
            <a:r>
              <a:rPr lang="de-DE" dirty="0"/>
              <a:t>Analyse </a:t>
            </a:r>
            <a:r>
              <a:rPr lang="de-DE" dirty="0" err="1"/>
              <a:t>SPICEnet</a:t>
            </a:r>
            <a:r>
              <a:rPr lang="de-DE" dirty="0"/>
              <a:t> Parameters</a:t>
            </a:r>
          </a:p>
          <a:p>
            <a:pPr>
              <a:lnSpc>
                <a:spcPct val="150000"/>
              </a:lnSpc>
            </a:pPr>
            <a:r>
              <a:rPr lang="de-DE" dirty="0" err="1"/>
              <a:t>Define</a:t>
            </a:r>
            <a:r>
              <a:rPr lang="de-DE" dirty="0"/>
              <a:t> NIR Architecture</a:t>
            </a:r>
          </a:p>
          <a:p>
            <a:pPr>
              <a:lnSpc>
                <a:spcPct val="150000"/>
              </a:lnSpc>
            </a:pPr>
            <a:r>
              <a:rPr lang="de-DE" dirty="0" err="1"/>
              <a:t>Expand</a:t>
            </a:r>
            <a:r>
              <a:rPr lang="de-DE" dirty="0"/>
              <a:t> </a:t>
            </a:r>
            <a:r>
              <a:rPr lang="de-DE" dirty="0" err="1"/>
              <a:t>SPICEnet</a:t>
            </a:r>
            <a:r>
              <a:rPr lang="de-DE" dirty="0"/>
              <a:t> Package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utility</a:t>
            </a:r>
            <a:r>
              <a:rPr lang="de-DE" dirty="0"/>
              <a:t> </a:t>
            </a:r>
            <a:r>
              <a:rPr lang="de-DE" dirty="0" err="1"/>
              <a:t>functions</a:t>
            </a:r>
            <a:endParaRPr lang="de-DE" dirty="0"/>
          </a:p>
          <a:p>
            <a:pPr>
              <a:lnSpc>
                <a:spcPct val="150000"/>
              </a:lnSpc>
            </a:pPr>
            <a:r>
              <a:rPr lang="de-DE" dirty="0">
                <a:solidFill>
                  <a:schemeClr val="accent6">
                    <a:lumMod val="50000"/>
                  </a:schemeClr>
                </a:solidFill>
              </a:rPr>
              <a:t>Training </a:t>
            </a:r>
            <a:r>
              <a:rPr lang="de-DE" dirty="0" err="1">
                <a:solidFill>
                  <a:schemeClr val="accent6">
                    <a:lumMod val="50000"/>
                  </a:schemeClr>
                </a:solidFill>
              </a:rPr>
              <a:t>can</a:t>
            </a:r>
            <a:r>
              <a:rPr lang="de-DE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de-DE" dirty="0" err="1">
                <a:solidFill>
                  <a:schemeClr val="accent6">
                    <a:lumMod val="50000"/>
                  </a:schemeClr>
                </a:solidFill>
              </a:rPr>
              <a:t>be</a:t>
            </a:r>
            <a:r>
              <a:rPr lang="de-DE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de-DE" dirty="0" err="1">
                <a:solidFill>
                  <a:schemeClr val="accent6">
                    <a:lumMod val="50000"/>
                  </a:schemeClr>
                </a:solidFill>
              </a:rPr>
              <a:t>done</a:t>
            </a:r>
            <a:r>
              <a:rPr lang="de-DE" dirty="0">
                <a:solidFill>
                  <a:schemeClr val="accent6">
                    <a:lumMod val="50000"/>
                  </a:schemeClr>
                </a:solidFill>
              </a:rPr>
              <a:t> in normal </a:t>
            </a:r>
            <a:r>
              <a:rPr lang="de-DE" dirty="0" err="1">
                <a:solidFill>
                  <a:schemeClr val="accent6">
                    <a:lumMod val="50000"/>
                  </a:schemeClr>
                </a:solidFill>
              </a:rPr>
              <a:t>SPICEnet</a:t>
            </a:r>
            <a:endParaRPr lang="de-DE" dirty="0">
              <a:solidFill>
                <a:schemeClr val="accent6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de-DE" dirty="0"/>
          </a:p>
          <a:p>
            <a:pPr marL="0" indent="0">
              <a:lnSpc>
                <a:spcPct val="150000"/>
              </a:lnSpc>
              <a:buNone/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BA23730-8710-4A74-2DF8-F8AE825859A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 err="1"/>
              <a:t>Connecting</a:t>
            </a:r>
            <a:r>
              <a:rPr lang="de-DE" dirty="0"/>
              <a:t> </a:t>
            </a:r>
            <a:r>
              <a:rPr lang="de-DE" dirty="0" err="1"/>
              <a:t>SPICEnet</a:t>
            </a:r>
            <a:r>
              <a:rPr lang="de-DE" dirty="0"/>
              <a:t> </a:t>
            </a:r>
            <a:r>
              <a:rPr lang="de-DE" dirty="0" err="1"/>
              <a:t>package</a:t>
            </a:r>
            <a:r>
              <a:rPr lang="de-DE" dirty="0"/>
              <a:t> and NIR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4697FC6-5C64-6FF4-AD09-AC67BE1985F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59999" y="6379481"/>
            <a:ext cx="9000000" cy="136460"/>
          </a:xfrm>
        </p:spPr>
        <p:txBody>
          <a:bodyPr/>
          <a:lstStyle/>
          <a:p>
            <a:r>
              <a:rPr lang="de-DE" dirty="0"/>
              <a:t>www.th-nuernberg.de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B40BEC6-B621-8245-FEAA-A8594763956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18</a:t>
            </a:fld>
            <a:endParaRPr lang="de-DE"/>
          </a:p>
        </p:txBody>
      </p:sp>
      <p:pic>
        <p:nvPicPr>
          <p:cNvPr id="9" name="Picture 8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9C8DEB3D-3014-4801-FBA0-46DE63C71E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2547" y="3587426"/>
            <a:ext cx="4701059" cy="2565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297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DD700-4002-7B39-6213-1BAFA8E64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97E353-7088-1A0E-B2C5-AFF862EEC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NIR Integration – Architecture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A9A6BDF-1ADC-8F1E-8720-23FDF5CA43F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59999" y="6379481"/>
            <a:ext cx="9000000" cy="136460"/>
          </a:xfrm>
        </p:spPr>
        <p:txBody>
          <a:bodyPr/>
          <a:lstStyle/>
          <a:p>
            <a:r>
              <a:rPr lang="de-DE" dirty="0"/>
              <a:t>www.th-nuernberg.de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D0A3C3-7F58-4828-78ED-7B7DDA5DB58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19</a:t>
            </a:fld>
            <a:endParaRPr lang="de-DE"/>
          </a:p>
        </p:txBody>
      </p:sp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509AE168-496E-3305-9592-363C96D145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83" y="1886264"/>
            <a:ext cx="10805471" cy="302893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5FF886F-5A32-09AE-3D8A-1DEA92777E90}"/>
              </a:ext>
            </a:extLst>
          </p:cNvPr>
          <p:cNvSpPr/>
          <p:nvPr/>
        </p:nvSpPr>
        <p:spPr>
          <a:xfrm>
            <a:off x="4114800" y="1537462"/>
            <a:ext cx="7716837" cy="3546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de-DE" sz="2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67301D-9F87-C501-0C95-A49D498F9ACE}"/>
              </a:ext>
            </a:extLst>
          </p:cNvPr>
          <p:cNvSpPr/>
          <p:nvPr/>
        </p:nvSpPr>
        <p:spPr>
          <a:xfrm>
            <a:off x="7942997" y="1357950"/>
            <a:ext cx="3998794" cy="40260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de-DE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7CAC72-A910-6499-A5F3-8EC89C58A612}"/>
              </a:ext>
            </a:extLst>
          </p:cNvPr>
          <p:cNvSpPr txBox="1"/>
          <p:nvPr/>
        </p:nvSpPr>
        <p:spPr>
          <a:xfrm>
            <a:off x="1688329" y="5349168"/>
            <a:ext cx="8814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Higher Levels </a:t>
            </a:r>
            <a:r>
              <a:rPr lang="de-DE" dirty="0" err="1"/>
              <a:t>automatically</a:t>
            </a:r>
            <a:r>
              <a:rPr lang="de-DE" dirty="0"/>
              <a:t> </a:t>
            </a:r>
            <a:r>
              <a:rPr lang="de-DE" dirty="0" err="1"/>
              <a:t>instantiate</a:t>
            </a:r>
            <a:r>
              <a:rPr lang="de-DE" dirty="0"/>
              <a:t> </a:t>
            </a:r>
            <a:r>
              <a:rPr lang="de-DE" dirty="0" err="1"/>
              <a:t>lower</a:t>
            </a:r>
            <a:r>
              <a:rPr lang="de-DE" dirty="0"/>
              <a:t> </a:t>
            </a:r>
            <a:r>
              <a:rPr lang="de-DE" dirty="0" err="1"/>
              <a:t>levels</a:t>
            </a:r>
            <a:r>
              <a:rPr lang="de-DE" dirty="0"/>
              <a:t> </a:t>
            </a:r>
            <a:r>
              <a:rPr lang="de-DE" b="1" dirty="0"/>
              <a:t>OR</a:t>
            </a:r>
            <a:r>
              <a:rPr lang="de-DE" dirty="0"/>
              <a:t> </a:t>
            </a:r>
            <a:r>
              <a:rPr lang="de-DE" dirty="0" err="1"/>
              <a:t>take</a:t>
            </a:r>
            <a:r>
              <a:rPr lang="de-DE" dirty="0"/>
              <a:t> a </a:t>
            </a:r>
            <a:r>
              <a:rPr lang="de-DE" dirty="0" err="1"/>
              <a:t>given</a:t>
            </a:r>
            <a:r>
              <a:rPr lang="de-DE" dirty="0"/>
              <a:t> </a:t>
            </a:r>
            <a:r>
              <a:rPr lang="de-DE" dirty="0" err="1"/>
              <a:t>list</a:t>
            </a:r>
            <a:r>
              <a:rPr lang="de-DE" dirty="0"/>
              <a:t> and </a:t>
            </a:r>
            <a:r>
              <a:rPr lang="de-DE" dirty="0" err="1"/>
              <a:t>infer</a:t>
            </a:r>
            <a:r>
              <a:rPr lang="de-DE" dirty="0"/>
              <a:t> </a:t>
            </a:r>
            <a:r>
              <a:rPr lang="de-DE" dirty="0" err="1"/>
              <a:t>parameters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92007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09AD3-ECD6-0478-C036-4A6B9122A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9ECD23-927E-746C-9F6D-835884B7E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NIR Integration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F9E690E-45F9-5F17-E9AD-4AC1D1BD0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2246997"/>
            <a:ext cx="11471638" cy="368020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de-DE" dirty="0"/>
              <a:t>NIR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python</a:t>
            </a:r>
            <a:r>
              <a:rPr lang="de-DE" dirty="0"/>
              <a:t> </a:t>
            </a:r>
            <a:r>
              <a:rPr lang="de-DE" dirty="0" err="1"/>
              <a:t>package</a:t>
            </a:r>
            <a:r>
              <a:rPr lang="de-DE" dirty="0"/>
              <a:t> like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other</a:t>
            </a:r>
            <a:endParaRPr lang="de-DE" dirty="0"/>
          </a:p>
          <a:p>
            <a:pPr lvl="2">
              <a:lnSpc>
                <a:spcPct val="150000"/>
              </a:lnSpc>
            </a:pPr>
            <a:r>
              <a:rPr lang="de-DE" dirty="0" err="1"/>
              <a:t>Doesn‘t</a:t>
            </a:r>
            <a:r>
              <a:rPr lang="de-DE" dirty="0"/>
              <a:t> handle </a:t>
            </a:r>
            <a:r>
              <a:rPr lang="de-DE" dirty="0" err="1"/>
              <a:t>export</a:t>
            </a:r>
            <a:r>
              <a:rPr lang="de-DE" dirty="0"/>
              <a:t> and </a:t>
            </a:r>
            <a:r>
              <a:rPr lang="de-DE" dirty="0" err="1"/>
              <a:t>imports</a:t>
            </a:r>
            <a:r>
              <a:rPr lang="de-DE" dirty="0"/>
              <a:t> </a:t>
            </a:r>
            <a:r>
              <a:rPr lang="de-DE" dirty="0" err="1"/>
              <a:t>itself</a:t>
            </a:r>
            <a:endParaRPr lang="de-DE" dirty="0"/>
          </a:p>
          <a:p>
            <a:pPr lvl="2">
              <a:lnSpc>
                <a:spcPct val="150000"/>
              </a:lnSpc>
            </a:pPr>
            <a:r>
              <a:rPr lang="de-DE" dirty="0"/>
              <a:t>Just </a:t>
            </a:r>
            <a:r>
              <a:rPr lang="de-DE" dirty="0" err="1"/>
              <a:t>offers</a:t>
            </a:r>
            <a:r>
              <a:rPr lang="de-DE" dirty="0"/>
              <a:t> a </a:t>
            </a:r>
            <a:r>
              <a:rPr lang="de-DE" dirty="0" err="1"/>
              <a:t>serialized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>
              <a:lnSpc>
                <a:spcPct val="150000"/>
              </a:lnSpc>
            </a:pPr>
            <a:r>
              <a:rPr lang="de-DE" dirty="0"/>
              <a:t>Classes do not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functionality</a:t>
            </a:r>
            <a:endParaRPr lang="de-DE" dirty="0"/>
          </a:p>
          <a:p>
            <a:pPr lvl="2">
              <a:lnSpc>
                <a:spcPct val="150000"/>
              </a:lnSpc>
            </a:pPr>
            <a:r>
              <a:rPr lang="de-DE" dirty="0" err="1"/>
              <a:t>Logic</a:t>
            </a:r>
            <a:r>
              <a:rPr lang="de-DE" dirty="0"/>
              <a:t> (like </a:t>
            </a:r>
            <a:r>
              <a:rPr lang="de-DE" dirty="0" err="1"/>
              <a:t>learning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functionality</a:t>
            </a:r>
            <a:r>
              <a:rPr lang="de-DE" dirty="0"/>
              <a:t>) </a:t>
            </a:r>
            <a:r>
              <a:rPr lang="de-DE" dirty="0" err="1"/>
              <a:t>does</a:t>
            </a:r>
            <a:r>
              <a:rPr lang="de-DE" dirty="0"/>
              <a:t> not </a:t>
            </a:r>
            <a:r>
              <a:rPr lang="de-DE" dirty="0" err="1"/>
              <a:t>get</a:t>
            </a:r>
            <a:r>
              <a:rPr lang="de-DE" dirty="0"/>
              <a:t> </a:t>
            </a:r>
            <a:r>
              <a:rPr lang="de-DE" dirty="0" err="1"/>
              <a:t>exchanged</a:t>
            </a:r>
            <a:r>
              <a:rPr lang="de-DE" dirty="0"/>
              <a:t> </a:t>
            </a:r>
          </a:p>
          <a:p>
            <a:pPr lvl="3">
              <a:lnSpc>
                <a:spcPct val="150000"/>
              </a:lnSpc>
              <a:buFont typeface="Symbol" panose="05050102010706020507" pitchFamily="18" charset="2"/>
              <a:buChar char="Þ"/>
            </a:pPr>
            <a:r>
              <a:rPr lang="de-DE" dirty="0"/>
              <a:t> SOM and </a:t>
            </a:r>
            <a:r>
              <a:rPr lang="de-DE" dirty="0" err="1"/>
              <a:t>Correlation</a:t>
            </a:r>
            <a:r>
              <a:rPr lang="de-DE" dirty="0"/>
              <a:t> Matrix Learning </a:t>
            </a:r>
            <a:r>
              <a:rPr lang="de-DE" dirty="0" err="1"/>
              <a:t>is</a:t>
            </a:r>
            <a:r>
              <a:rPr lang="de-DE" dirty="0"/>
              <a:t> not </a:t>
            </a:r>
            <a:r>
              <a:rPr lang="de-DE" dirty="0" err="1"/>
              <a:t>part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integration</a:t>
            </a:r>
            <a:endParaRPr lang="de-DE" dirty="0"/>
          </a:p>
          <a:p>
            <a:pPr marL="0" indent="0">
              <a:lnSpc>
                <a:spcPct val="150000"/>
              </a:lnSpc>
              <a:buNone/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6EEA3BF-1B19-B710-756C-2A526C1A9CA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 err="1"/>
              <a:t>Integrating</a:t>
            </a:r>
            <a:r>
              <a:rPr lang="de-DE" dirty="0"/>
              <a:t> Architecture </a:t>
            </a:r>
            <a:r>
              <a:rPr lang="de-DE" dirty="0" err="1"/>
              <a:t>into</a:t>
            </a:r>
            <a:r>
              <a:rPr lang="de-DE" dirty="0"/>
              <a:t> NIR </a:t>
            </a:r>
            <a:r>
              <a:rPr lang="de-DE" dirty="0" err="1"/>
              <a:t>package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D23D006-D2FD-53F2-472E-E6106F9870E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59999" y="6379481"/>
            <a:ext cx="9000000" cy="136460"/>
          </a:xfrm>
        </p:spPr>
        <p:txBody>
          <a:bodyPr/>
          <a:lstStyle/>
          <a:p>
            <a:r>
              <a:rPr lang="de-DE" dirty="0"/>
              <a:t>www.th-nuernberg.de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74FD07-BBA1-D1AF-1445-803230CA3B3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20</a:t>
            </a:fld>
            <a:endParaRPr lang="de-DE"/>
          </a:p>
        </p:txBody>
      </p:sp>
      <p:pic>
        <p:nvPicPr>
          <p:cNvPr id="7" name="Picture 6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DDBDFFDD-ECEF-F132-AF09-18B2804F37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7994" y="1287001"/>
            <a:ext cx="3494404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3840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A5A1A-9C09-93D4-550C-07FA14600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950125-752C-D19F-C4A6-DA3973CB7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NIR Integration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A42076C-7AF7-76AA-1AE8-BAA66D6AC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2246997"/>
            <a:ext cx="11471638" cy="368020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de-DE" dirty="0"/>
              <a:t>Every </a:t>
            </a:r>
            <a:r>
              <a:rPr lang="de-DE" dirty="0" err="1"/>
              <a:t>platform</a:t>
            </a:r>
            <a:r>
              <a:rPr lang="de-DE" dirty="0"/>
              <a:t> </a:t>
            </a:r>
            <a:r>
              <a:rPr lang="de-DE" dirty="0" err="1"/>
              <a:t>has</a:t>
            </a:r>
            <a:r>
              <a:rPr lang="de-DE" dirty="0"/>
              <a:t> ist own </a:t>
            </a:r>
            <a:r>
              <a:rPr lang="de-DE" dirty="0" err="1"/>
              <a:t>limitations</a:t>
            </a:r>
            <a:endParaRPr lang="de-DE" dirty="0"/>
          </a:p>
          <a:p>
            <a:pPr lvl="2">
              <a:lnSpc>
                <a:spcPct val="150000"/>
              </a:lnSpc>
            </a:pPr>
            <a:r>
              <a:rPr lang="de-DE" dirty="0"/>
              <a:t>Implementation </a:t>
            </a:r>
            <a:r>
              <a:rPr lang="de-DE" dirty="0" err="1"/>
              <a:t>of</a:t>
            </a:r>
            <a:r>
              <a:rPr lang="de-DE" dirty="0"/>
              <a:t> a </a:t>
            </a:r>
            <a:r>
              <a:rPr lang="de-DE" b="1" dirty="0" err="1"/>
              <a:t>exchange</a:t>
            </a:r>
            <a:r>
              <a:rPr lang="de-DE" b="1" dirty="0"/>
              <a:t> </a:t>
            </a:r>
            <a:r>
              <a:rPr lang="de-DE" b="1" dirty="0" err="1"/>
              <a:t>class</a:t>
            </a:r>
            <a:r>
              <a:rPr lang="de-DE" b="1" dirty="0"/>
              <a:t> </a:t>
            </a:r>
            <a:r>
              <a:rPr lang="de-DE" dirty="0" err="1"/>
              <a:t>SpiceSom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different on </a:t>
            </a:r>
            <a:r>
              <a:rPr lang="de-DE" dirty="0" err="1"/>
              <a:t>every</a:t>
            </a:r>
            <a:r>
              <a:rPr lang="de-DE" dirty="0"/>
              <a:t> </a:t>
            </a:r>
            <a:r>
              <a:rPr lang="de-DE" dirty="0" err="1"/>
              <a:t>platform</a:t>
            </a:r>
            <a:endParaRPr lang="de-DE" dirty="0"/>
          </a:p>
          <a:p>
            <a:pPr lvl="2">
              <a:lnSpc>
                <a:spcPct val="150000"/>
              </a:lnSpc>
            </a:pPr>
            <a:r>
              <a:rPr lang="de-DE" b="1" dirty="0" err="1"/>
              <a:t>Optimally</a:t>
            </a:r>
            <a:r>
              <a:rPr lang="de-DE" b="1" dirty="0"/>
              <a:t>: </a:t>
            </a:r>
            <a:r>
              <a:rPr lang="de-DE" dirty="0" err="1"/>
              <a:t>Efficient</a:t>
            </a:r>
            <a:r>
              <a:rPr lang="de-DE" dirty="0"/>
              <a:t> </a:t>
            </a:r>
            <a:r>
              <a:rPr lang="de-DE" dirty="0" err="1"/>
              <a:t>hardware</a:t>
            </a:r>
            <a:r>
              <a:rPr lang="de-DE" dirty="0"/>
              <a:t> </a:t>
            </a:r>
            <a:r>
              <a:rPr lang="de-DE" dirty="0" err="1"/>
              <a:t>implementation</a:t>
            </a:r>
            <a:r>
              <a:rPr lang="de-DE" dirty="0"/>
              <a:t> on </a:t>
            </a:r>
            <a:r>
              <a:rPr lang="de-DE" dirty="0" err="1"/>
              <a:t>hardware</a:t>
            </a:r>
            <a:r>
              <a:rPr lang="de-DE" dirty="0"/>
              <a:t> </a:t>
            </a:r>
            <a:r>
              <a:rPr lang="de-DE" dirty="0" err="1"/>
              <a:t>platforms</a:t>
            </a:r>
            <a:endParaRPr lang="de-DE" dirty="0"/>
          </a:p>
          <a:p>
            <a:pPr>
              <a:lnSpc>
                <a:spcPct val="150000"/>
              </a:lnSpc>
            </a:pPr>
            <a:r>
              <a:rPr lang="de-DE" b="1" dirty="0" err="1"/>
              <a:t>Our</a:t>
            </a:r>
            <a:r>
              <a:rPr lang="de-DE" b="1" dirty="0"/>
              <a:t> </a:t>
            </a:r>
            <a:r>
              <a:rPr lang="de-DE" b="1" dirty="0" err="1"/>
              <a:t>trained</a:t>
            </a:r>
            <a:r>
              <a:rPr lang="de-DE" b="1" dirty="0"/>
              <a:t> SOM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generic</a:t>
            </a:r>
            <a:r>
              <a:rPr lang="de-DE" dirty="0"/>
              <a:t> </a:t>
            </a:r>
            <a:r>
              <a:rPr lang="de-DE" dirty="0" err="1"/>
              <a:t>implementation</a:t>
            </a:r>
            <a:endParaRPr lang="de-DE" dirty="0"/>
          </a:p>
          <a:p>
            <a:pPr lvl="2">
              <a:lnSpc>
                <a:spcPct val="150000"/>
              </a:lnSpc>
            </a:pPr>
            <a:r>
              <a:rPr lang="de-DE" dirty="0" err="1"/>
              <a:t>Usable</a:t>
            </a:r>
            <a:r>
              <a:rPr lang="de-DE" dirty="0"/>
              <a:t> on </a:t>
            </a:r>
            <a:r>
              <a:rPr lang="de-DE" dirty="0" err="1"/>
              <a:t>many</a:t>
            </a:r>
            <a:r>
              <a:rPr lang="de-DE" dirty="0"/>
              <a:t> SNN </a:t>
            </a:r>
            <a:r>
              <a:rPr lang="de-DE" dirty="0" err="1"/>
              <a:t>Platforms</a:t>
            </a:r>
            <a:r>
              <a:rPr lang="de-DE" dirty="0"/>
              <a:t> </a:t>
            </a:r>
            <a:r>
              <a:rPr lang="de-DE" dirty="0" err="1"/>
              <a:t>through</a:t>
            </a:r>
            <a:r>
              <a:rPr lang="de-DE" dirty="0"/>
              <a:t> own NIR </a:t>
            </a:r>
            <a:r>
              <a:rPr lang="de-DE" dirty="0" err="1"/>
              <a:t>transfer</a:t>
            </a:r>
            <a:r>
              <a:rPr lang="de-DE" dirty="0"/>
              <a:t>..</a:t>
            </a:r>
          </a:p>
          <a:p>
            <a:pPr lvl="2">
              <a:lnSpc>
                <a:spcPct val="150000"/>
              </a:lnSpc>
            </a:pPr>
            <a:r>
              <a:rPr lang="de-DE" dirty="0"/>
              <a:t>.. But </a:t>
            </a:r>
            <a:r>
              <a:rPr lang="de-DE" dirty="0" err="1"/>
              <a:t>unoptimized</a:t>
            </a:r>
            <a:endParaRPr lang="de-DE" dirty="0"/>
          </a:p>
          <a:p>
            <a:pPr marL="0" indent="0">
              <a:lnSpc>
                <a:spcPct val="150000"/>
              </a:lnSpc>
              <a:buNone/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CF77728-2770-1A3E-CA36-4D9508368FA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Export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platforms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AFDB935-D4A6-6571-F74F-5BD36AEDB17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59999" y="6379481"/>
            <a:ext cx="9000000" cy="136460"/>
          </a:xfrm>
        </p:spPr>
        <p:txBody>
          <a:bodyPr/>
          <a:lstStyle/>
          <a:p>
            <a:r>
              <a:rPr lang="de-DE" dirty="0"/>
              <a:t>www.th-nuernberg.de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9925DD-D2DA-A740-FE6E-77D1992601B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86109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007E1-3215-4B92-D544-BBF06C9D0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120668-CDC0-80AD-5E73-11C6DD6F9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Conclusion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E7A8341-84DF-C6B0-50B0-0738BAFC3C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www.th-nuernberg.de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FCE054B-8DF0-42E5-F639-993CDBAEF2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96984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B4BB9-E087-246E-380A-1728D4BDB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2AB1A8-F09B-15E8-0696-1E24B9E1C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99" y="809786"/>
            <a:ext cx="11471638" cy="529343"/>
          </a:xfrm>
        </p:spPr>
        <p:txBody>
          <a:bodyPr/>
          <a:lstStyle/>
          <a:p>
            <a:r>
              <a:rPr lang="de-DE" dirty="0"/>
              <a:t>Problems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24F4AC-2BBC-3454-5944-45016DD1E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999" y="2228079"/>
            <a:ext cx="5736001" cy="368020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de-DE" dirty="0"/>
              <a:t>Theory </a:t>
            </a:r>
            <a:r>
              <a:rPr lang="de-DE" dirty="0" err="1"/>
              <a:t>of</a:t>
            </a:r>
            <a:r>
              <a:rPr lang="de-DE" dirty="0"/>
              <a:t> SNNs</a:t>
            </a:r>
          </a:p>
          <a:p>
            <a:pPr lvl="2">
              <a:lnSpc>
                <a:spcPct val="150000"/>
              </a:lnSpc>
            </a:pP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experience</a:t>
            </a:r>
            <a:r>
              <a:rPr lang="de-DE" dirty="0"/>
              <a:t> at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start</a:t>
            </a:r>
            <a:endParaRPr lang="de-DE" dirty="0"/>
          </a:p>
          <a:p>
            <a:pPr lvl="2">
              <a:lnSpc>
                <a:spcPct val="150000"/>
              </a:lnSpc>
            </a:pPr>
            <a:r>
              <a:rPr lang="de-DE" dirty="0" err="1"/>
              <a:t>Especially</a:t>
            </a:r>
            <a:r>
              <a:rPr lang="de-DE" dirty="0"/>
              <a:t> </a:t>
            </a:r>
            <a:r>
              <a:rPr lang="de-DE" dirty="0" err="1"/>
              <a:t>training</a:t>
            </a:r>
            <a:r>
              <a:rPr lang="de-DE" dirty="0"/>
              <a:t> still </a:t>
            </a:r>
            <a:r>
              <a:rPr lang="de-DE" dirty="0" err="1"/>
              <a:t>hard</a:t>
            </a:r>
            <a:endParaRPr lang="de-DE" dirty="0"/>
          </a:p>
          <a:p>
            <a:pPr lvl="2">
              <a:lnSpc>
                <a:spcPct val="150000"/>
              </a:lnSpc>
            </a:pPr>
            <a:r>
              <a:rPr lang="de-DE" dirty="0"/>
              <a:t>Very </a:t>
            </a:r>
            <a:r>
              <a:rPr lang="de-DE" dirty="0" err="1"/>
              <a:t>interdisciplinary</a:t>
            </a:r>
            <a:r>
              <a:rPr lang="de-DE" dirty="0"/>
              <a:t> </a:t>
            </a:r>
            <a:r>
              <a:rPr lang="de-DE" dirty="0" err="1"/>
              <a:t>field</a:t>
            </a: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4F90984-1D1C-7DE6-DCA6-4B5D2CE751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0000" y="1764000"/>
            <a:ext cx="5000276" cy="378000"/>
          </a:xfrm>
        </p:spPr>
        <p:txBody>
          <a:bodyPr/>
          <a:lstStyle/>
          <a:p>
            <a:r>
              <a:rPr lang="de-DE" dirty="0" err="1"/>
              <a:t>Theoretical</a:t>
            </a:r>
            <a:r>
              <a:rPr lang="de-DE" dirty="0"/>
              <a:t> Problems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1855A45-E8BD-E586-677C-E341549DF74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59999" y="6379481"/>
            <a:ext cx="9000000" cy="136460"/>
          </a:xfrm>
        </p:spPr>
        <p:txBody>
          <a:bodyPr/>
          <a:lstStyle/>
          <a:p>
            <a:r>
              <a:rPr lang="de-DE" dirty="0"/>
              <a:t>www.th-nuernberg.de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48348D-1B29-35BD-2F6C-8A0F5FCF480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23</a:t>
            </a:fld>
            <a:endParaRPr lang="de-DE"/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8AA5A056-3845-3EA6-A106-6831C1D4C4DA}"/>
              </a:ext>
            </a:extLst>
          </p:cNvPr>
          <p:cNvSpPr txBox="1">
            <a:spLocks/>
          </p:cNvSpPr>
          <p:nvPr/>
        </p:nvSpPr>
        <p:spPr>
          <a:xfrm>
            <a:off x="6487240" y="1764000"/>
            <a:ext cx="5000276" cy="37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29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8000" indent="-2304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8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36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66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04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34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 err="1"/>
              <a:t>Practical</a:t>
            </a:r>
            <a:r>
              <a:rPr lang="de-DE" dirty="0"/>
              <a:t> Problems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4D1F32E-D9EC-7C47-6AF1-A93054E03FC9}"/>
              </a:ext>
            </a:extLst>
          </p:cNvPr>
          <p:cNvSpPr txBox="1">
            <a:spLocks/>
          </p:cNvSpPr>
          <p:nvPr/>
        </p:nvSpPr>
        <p:spPr>
          <a:xfrm>
            <a:off x="6455999" y="2228079"/>
            <a:ext cx="5736001" cy="368020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30400" indent="-2304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8000" indent="-2304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8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36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66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00000" indent="-228600" algn="l" defTabSz="914400" rtl="0" eaLnBrk="1" latinLnBrk="0" hangingPunct="1">
              <a:lnSpc>
                <a:spcPts val="192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16000" indent="-228600" algn="l" defTabSz="914400" rtl="0" eaLnBrk="1" latinLnBrk="0" hangingPunct="1">
              <a:lnSpc>
                <a:spcPts val="192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de-DE" dirty="0" err="1"/>
              <a:t>Existing</a:t>
            </a:r>
            <a:r>
              <a:rPr lang="de-DE" dirty="0"/>
              <a:t> SNN </a:t>
            </a:r>
            <a:r>
              <a:rPr lang="de-DE" dirty="0" err="1"/>
              <a:t>SPICEnet</a:t>
            </a:r>
            <a:endParaRPr lang="de-DE" dirty="0"/>
          </a:p>
          <a:p>
            <a:pPr lvl="2">
              <a:lnSpc>
                <a:spcPct val="150000"/>
              </a:lnSpc>
            </a:pPr>
            <a:r>
              <a:rPr lang="de-DE" dirty="0" err="1"/>
              <a:t>Unexpected</a:t>
            </a:r>
            <a:endParaRPr lang="de-DE" dirty="0"/>
          </a:p>
          <a:p>
            <a:pPr lvl="2">
              <a:lnSpc>
                <a:spcPct val="150000"/>
              </a:lnSpc>
            </a:pPr>
            <a:r>
              <a:rPr lang="de-DE" dirty="0"/>
              <a:t>Change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Methodology</a:t>
            </a:r>
            <a:r>
              <a:rPr lang="de-DE" dirty="0"/>
              <a:t> </a:t>
            </a:r>
            <a:r>
              <a:rPr lang="de-DE" dirty="0" err="1"/>
              <a:t>necessary</a:t>
            </a:r>
            <a:endParaRPr lang="de-DE" dirty="0"/>
          </a:p>
          <a:p>
            <a:pPr lvl="2">
              <a:lnSpc>
                <a:spcPct val="150000"/>
              </a:lnSpc>
            </a:pPr>
            <a:r>
              <a:rPr lang="de-DE" dirty="0" err="1"/>
              <a:t>Can‘t</a:t>
            </a:r>
            <a:r>
              <a:rPr lang="de-DE" dirty="0"/>
              <a:t> </a:t>
            </a:r>
            <a:r>
              <a:rPr lang="de-DE" dirty="0" err="1"/>
              <a:t>evaluate</a:t>
            </a:r>
            <a:r>
              <a:rPr lang="de-DE" dirty="0"/>
              <a:t> </a:t>
            </a:r>
            <a:r>
              <a:rPr lang="de-DE" dirty="0" err="1"/>
              <a:t>what‘s</a:t>
            </a:r>
            <a:r>
              <a:rPr lang="de-DE" dirty="0"/>
              <a:t> not </a:t>
            </a:r>
            <a:r>
              <a:rPr lang="de-DE" dirty="0" err="1"/>
              <a:t>there</a:t>
            </a:r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84949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8C7A1-6C7D-28A7-DFE2-982A164A1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65EF63-BD5C-B4EF-E6BD-CD951AA3D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99" y="809786"/>
            <a:ext cx="11471638" cy="529343"/>
          </a:xfrm>
        </p:spPr>
        <p:txBody>
          <a:bodyPr/>
          <a:lstStyle/>
          <a:p>
            <a:r>
              <a:rPr lang="de-DE" dirty="0"/>
              <a:t>Future Steps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3A06A9-6A0C-5663-8801-DDDA97F1B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999" y="1487606"/>
            <a:ext cx="5736001" cy="442068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de-DE" dirty="0"/>
              <a:t>Transformation ANN </a:t>
            </a:r>
            <a:r>
              <a:rPr lang="de-DE" dirty="0" err="1"/>
              <a:t>to</a:t>
            </a:r>
            <a:r>
              <a:rPr lang="de-DE" dirty="0"/>
              <a:t> SNN</a:t>
            </a:r>
          </a:p>
          <a:p>
            <a:pPr>
              <a:lnSpc>
                <a:spcPct val="150000"/>
              </a:lnSpc>
            </a:pPr>
            <a:r>
              <a:rPr lang="de-DE" dirty="0"/>
              <a:t>NIR Architecture Implementation</a:t>
            </a:r>
          </a:p>
          <a:p>
            <a:pPr>
              <a:lnSpc>
                <a:spcPct val="150000"/>
              </a:lnSpc>
            </a:pPr>
            <a:r>
              <a:rPr lang="de-DE" dirty="0"/>
              <a:t>Tests and Evaluation </a:t>
            </a:r>
            <a:r>
              <a:rPr lang="de-DE" dirty="0" err="1"/>
              <a:t>of</a:t>
            </a:r>
            <a:r>
              <a:rPr lang="de-DE" dirty="0"/>
              <a:t>:</a:t>
            </a:r>
          </a:p>
          <a:p>
            <a:pPr lvl="2">
              <a:lnSpc>
                <a:spcPct val="150000"/>
              </a:lnSpc>
            </a:pPr>
            <a:r>
              <a:rPr lang="de-DE" dirty="0" err="1"/>
              <a:t>SPICEnet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NIR</a:t>
            </a:r>
          </a:p>
          <a:p>
            <a:pPr lvl="2">
              <a:lnSpc>
                <a:spcPct val="150000"/>
              </a:lnSpc>
            </a:pPr>
            <a:r>
              <a:rPr lang="de-DE" dirty="0"/>
              <a:t>NIR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SPICEnet</a:t>
            </a:r>
            <a:endParaRPr lang="de-DE" dirty="0"/>
          </a:p>
          <a:p>
            <a:pPr lvl="2">
              <a:lnSpc>
                <a:spcPct val="150000"/>
              </a:lnSpc>
            </a:pPr>
            <a:r>
              <a:rPr lang="de-DE" dirty="0"/>
              <a:t>SNN SOM</a:t>
            </a:r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C36031-EC14-6D3F-A0FE-D0AFBF9271F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59999" y="6379481"/>
            <a:ext cx="9000000" cy="136460"/>
          </a:xfrm>
        </p:spPr>
        <p:txBody>
          <a:bodyPr/>
          <a:lstStyle/>
          <a:p>
            <a:r>
              <a:rPr lang="de-DE" dirty="0"/>
              <a:t>www.th-nuernberg.de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08C7EEF-3FC9-FA9D-63AE-DAA80ED38A1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3FEB9C3-1FF9-4F1A-B0DB-7E320F93F669}" type="slidenum">
              <a:rPr lang="de-DE" smtClean="0"/>
              <a:pPr/>
              <a:t>24</a:t>
            </a:fld>
            <a:endParaRPr lang="de-DE"/>
          </a:p>
        </p:txBody>
      </p:sp>
      <p:pic>
        <p:nvPicPr>
          <p:cNvPr id="10" name="Graphic 9" descr="Future outline">
            <a:extLst>
              <a:ext uri="{FF2B5EF4-FFF2-40B4-BE49-F238E27FC236}">
                <a16:creationId xmlns:a16="http://schemas.microsoft.com/office/drawing/2014/main" id="{F97B5EEA-4165-DB3F-E393-83A9964B46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05432" y="1655928"/>
            <a:ext cx="3546143" cy="3546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6692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AE9FC70-8A26-4CF2-8E04-EBDADB8B8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9CB703-C563-4F1F-BF28-83C06E978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D300C38-4A89-1785-3A88-75E2F6D83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000" y="583345"/>
            <a:ext cx="5833787" cy="22741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5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7A953CA-4F8C-DE8C-EB3D-6E2760070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06993" y="2660702"/>
            <a:ext cx="5833787" cy="2274155"/>
          </a:xfrm>
        </p:spPr>
        <p:txBody>
          <a:bodyPr vert="horz" lIns="91440" tIns="45720" rIns="91440" bIns="45720" rtlCol="0">
            <a:normAutofit fontScale="92500"/>
          </a:bodyPr>
          <a:lstStyle/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For Your Attention</a:t>
            </a:r>
          </a:p>
          <a:p>
            <a:pPr algn="r">
              <a:lnSpc>
                <a:spcPct val="90000"/>
              </a:lnSpc>
              <a:spcBef>
                <a:spcPts val="1000"/>
              </a:spcBef>
            </a:pPr>
            <a:endParaRPr lang="en-US" sz="20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algn="r">
              <a:lnSpc>
                <a:spcPct val="90000"/>
              </a:lnSpc>
              <a:spcBef>
                <a:spcPts val="1000"/>
              </a:spcBef>
            </a:pPr>
            <a:endParaRPr lang="en-US" sz="2000" dirty="0">
              <a:solidFill>
                <a:srgbClr val="FFFFFF"/>
              </a:solidFill>
            </a:endParaRPr>
          </a:p>
          <a:p>
            <a:pPr algn="r">
              <a:lnSpc>
                <a:spcPct val="90000"/>
              </a:lnSpc>
              <a:spcBef>
                <a:spcPts val="1000"/>
              </a:spcBef>
            </a:pPr>
            <a:endParaRPr lang="en-US" sz="20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en-US" sz="48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Any Questions? </a:t>
            </a:r>
            <a:r>
              <a:rPr lang="en-US" sz="48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Fragen</a:t>
            </a:r>
            <a:r>
              <a:rPr lang="en-US" sz="48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?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C169B93-61B5-C7B9-FE2D-958CBE2583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224937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3FEB9C3-1FF9-4F1A-B0DB-7E320F93F669}" type="slidenum">
              <a:rPr lang="en-US" sz="1200">
                <a:solidFill>
                  <a:srgbClr val="FFFFFF"/>
                </a:solidFill>
                <a:latin typeface="+mn-lt"/>
              </a:rPr>
              <a:pPr>
                <a:spcAft>
                  <a:spcPts val="600"/>
                </a:spcAft>
              </a:pPr>
              <a:t>25</a:t>
            </a:fld>
            <a:endParaRPr lang="en-US" sz="1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6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041" y="259737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Question Mark with solid fill">
            <a:extLst>
              <a:ext uri="{FF2B5EF4-FFF2-40B4-BE49-F238E27FC236}">
                <a16:creationId xmlns:a16="http://schemas.microsoft.com/office/drawing/2014/main" id="{31C43EC8-E555-D7B4-F64F-C9F29B7CAE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08391" y="2814239"/>
            <a:ext cx="3217333" cy="3217333"/>
          </a:xfrm>
          <a:prstGeom prst="rect">
            <a:avLst/>
          </a:prstGeom>
        </p:spPr>
      </p:pic>
      <p:sp>
        <p:nvSpPr>
          <p:cNvPr id="20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7821" y="282667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9869" y="610939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47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Benutzerdefiniert 2">
      <a:dk1>
        <a:srgbClr val="16283D"/>
      </a:dk1>
      <a:lt1>
        <a:sysClr val="window" lastClr="FFFFFF"/>
      </a:lt1>
      <a:dk2>
        <a:srgbClr val="000000"/>
      </a:dk2>
      <a:lt2>
        <a:srgbClr val="E7E6E6"/>
      </a:lt2>
      <a:accent1>
        <a:srgbClr val="C72426"/>
      </a:accent1>
      <a:accent2>
        <a:srgbClr val="16283D"/>
      </a:accent2>
      <a:accent3>
        <a:srgbClr val="D6EAF5"/>
      </a:accent3>
      <a:accent4>
        <a:srgbClr val="FFE763"/>
      </a:accent4>
      <a:accent5>
        <a:srgbClr val="603F80"/>
      </a:accent5>
      <a:accent6>
        <a:srgbClr val="83AC54"/>
      </a:accent6>
      <a:hlink>
        <a:srgbClr val="2D87B8"/>
      </a:hlink>
      <a:folHlink>
        <a:srgbClr val="B1D7EB"/>
      </a:folHlink>
    </a:clrScheme>
    <a:fontScheme name="TH Nürnberg OHM">
      <a:majorFont>
        <a:latin typeface="Public Sans ExtraBold"/>
        <a:ea typeface=""/>
        <a:cs typeface=""/>
      </a:majorFont>
      <a:minorFont>
        <a:latin typeface="Public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>
        <a:normAutofit/>
      </a:bodyPr>
      <a:lstStyle>
        <a:defPPr algn="ctr">
          <a:defRPr sz="24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3-02-22 Präsentationsvorlage - Kopie.potx" id="{B0D07936-725D-4CD1-A297-760B5C13FA30}" vid="{E93DF1DA-F3D8-42D9-B96E-9A8FB9047E34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b728891-83ba-4fdd-8aed-b513d535e67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C55587CCF370D4BAB6E804BA590D5A8" ma:contentTypeVersion="8" ma:contentTypeDescription="Ein neues Dokument erstellen." ma:contentTypeScope="" ma:versionID="a72168dd2c648c425de6094b5711c259">
  <xsd:schema xmlns:xsd="http://www.w3.org/2001/XMLSchema" xmlns:xs="http://www.w3.org/2001/XMLSchema" xmlns:p="http://schemas.microsoft.com/office/2006/metadata/properties" xmlns:ns3="2b728891-83ba-4fdd-8aed-b513d535e672" xmlns:ns4="ff43139c-a213-4c07-89b8-063666ade3a1" targetNamespace="http://schemas.microsoft.com/office/2006/metadata/properties" ma:root="true" ma:fieldsID="6c991ea260e8b91dfe451959bff284c0" ns3:_="" ns4:_="">
    <xsd:import namespace="2b728891-83ba-4fdd-8aed-b513d535e672"/>
    <xsd:import namespace="ff43139c-a213-4c07-89b8-063666ade3a1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728891-83ba-4fdd-8aed-b513d535e672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43139c-a213-4c07-89b8-063666ade3a1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Freigabehinweis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EB581F0-C6FE-4A19-AB98-B2AC6FF12E7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CECE6F6-9E18-4F3A-8248-F95E42EF9AC5}">
  <ds:schemaRefs>
    <ds:schemaRef ds:uri="http://schemas.microsoft.com/office/2006/metadata/properties"/>
    <ds:schemaRef ds:uri="http://purl.org/dc/dcmitype/"/>
    <ds:schemaRef ds:uri="2b728891-83ba-4fdd-8aed-b513d535e672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ff43139c-a213-4c07-89b8-063666ade3a1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829A0A7E-105A-468F-8F1B-352E1F3DF2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b728891-83ba-4fdd-8aed-b513d535e672"/>
    <ds:schemaRef ds:uri="ff43139c-a213-4c07-89b8-063666ade3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Vorlage_Präsentation_Ohm_neu</Template>
  <TotalTime>0</TotalTime>
  <Words>885</Words>
  <Application>Microsoft Office PowerPoint</Application>
  <PresentationFormat>Widescreen</PresentationFormat>
  <Paragraphs>236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Public Sans</vt:lpstr>
      <vt:lpstr>Public Sans ExtraBold</vt:lpstr>
      <vt:lpstr>Public Sans Medium</vt:lpstr>
      <vt:lpstr>Arial</vt:lpstr>
      <vt:lpstr>Calibri</vt:lpstr>
      <vt:lpstr>Symbol</vt:lpstr>
      <vt:lpstr>Office</vt:lpstr>
      <vt:lpstr>Bachelorseminar</vt:lpstr>
      <vt:lpstr>Agenda</vt:lpstr>
      <vt:lpstr>Original Goal</vt:lpstr>
      <vt:lpstr>SPICEnet - General</vt:lpstr>
      <vt:lpstr>Spiking Neural Networks</vt:lpstr>
      <vt:lpstr>PowerPoint Presentation</vt:lpstr>
      <vt:lpstr>PowerPoint Presentation</vt:lpstr>
      <vt:lpstr>NIR</vt:lpstr>
      <vt:lpstr>Primitives</vt:lpstr>
      <vt:lpstr>Primitives</vt:lpstr>
      <vt:lpstr>Methodology &amp; Results</vt:lpstr>
      <vt:lpstr>Original Plan</vt:lpstr>
      <vt:lpstr>Original Plan</vt:lpstr>
      <vt:lpstr>SOM Implementation</vt:lpstr>
      <vt:lpstr>SNN Trainingsansätze</vt:lpstr>
      <vt:lpstr>SOM Implementation</vt:lpstr>
      <vt:lpstr>SOM Implementation</vt:lpstr>
      <vt:lpstr>NIR Integration</vt:lpstr>
      <vt:lpstr>NIR Integration – Architecture</vt:lpstr>
      <vt:lpstr>NIR Integration</vt:lpstr>
      <vt:lpstr>NIR Integration</vt:lpstr>
      <vt:lpstr>Conclusion</vt:lpstr>
      <vt:lpstr>Problems</vt:lpstr>
      <vt:lpstr>Future Steps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Bruns, Alice</dc:creator>
  <cp:lastModifiedBy>mitlaenderlu88263</cp:lastModifiedBy>
  <cp:revision>7</cp:revision>
  <dcterms:created xsi:type="dcterms:W3CDTF">2023-03-09T13:42:37Z</dcterms:created>
  <dcterms:modified xsi:type="dcterms:W3CDTF">2025-02-05T17:27:14Z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0x010100BC55587CCF370D4BAB6E804BA590D5A8</vt:lpwstr>
  </property>
</Properties>
</file>